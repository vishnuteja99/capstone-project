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15"/>
  </p:notesMasterIdLst>
  <p:handoutMasterIdLst>
    <p:handoutMasterId r:id="rId16"/>
  </p:handoutMasterIdLst>
  <p:sldIdLst>
    <p:sldId id="531" r:id="rId2"/>
    <p:sldId id="289" r:id="rId3"/>
    <p:sldId id="292" r:id="rId4"/>
    <p:sldId id="294" r:id="rId5"/>
    <p:sldId id="533" r:id="rId6"/>
    <p:sldId id="298" r:id="rId7"/>
    <p:sldId id="534" r:id="rId8"/>
    <p:sldId id="532" r:id="rId9"/>
    <p:sldId id="535" r:id="rId10"/>
    <p:sldId id="536" r:id="rId11"/>
    <p:sldId id="537" r:id="rId12"/>
    <p:sldId id="307" r:id="rId13"/>
    <p:sldId id="301" r:id="rId14"/>
  </p:sldIdLst>
  <p:sldSz cx="12192000" cy="6858000"/>
  <p:notesSz cx="6858000" cy="9144000"/>
  <p:embeddedFontLst>
    <p:embeddedFont>
      <p:font typeface="Aharoni" panose="02010803020104030203" pitchFamily="2" charset="-79"/>
      <p:bold r:id="rId17"/>
    </p:embeddedFont>
    <p:embeddedFont>
      <p:font typeface="Montserrat" panose="00000500000000000000" pitchFamily="2" charset="0"/>
      <p:regular r:id="rId18"/>
      <p:bold r:id="rId19"/>
      <p:italic r:id="rId20"/>
      <p:boldItalic r:id="rId21"/>
    </p:embeddedFont>
    <p:embeddedFont>
      <p:font typeface="Montserrat Medium" panose="00000600000000000000" pitchFamily="2" charset="0"/>
      <p:regular r:id="rId22"/>
      <p:italic r:id="rId23"/>
    </p:embeddedFont>
    <p:embeddedFont>
      <p:font typeface="Open Sans" panose="020B0606030504020204" pitchFamily="34" charset="0"/>
      <p:regular r:id="rId24"/>
      <p:bold r:id="rId25"/>
      <p:italic r:id="rId26"/>
      <p:boldItalic r:id="rId27"/>
    </p:embeddedFont>
    <p:embeddedFont>
      <p:font typeface="Plus Jakarta Sans" panose="020B0604020202020204" charset="0"/>
      <p:regular r:id="rId28"/>
      <p:bold r:id="rId29"/>
      <p:italic r:id="rId30"/>
      <p:boldItalic r:id="rId31"/>
    </p:embeddedFont>
    <p:embeddedFont>
      <p:font typeface="Poppins SemiBold" panose="00000700000000000000" pitchFamily="2" charset="0"/>
      <p:regular r:id="rId32"/>
      <p:bold r:id="rId33"/>
      <p:italic r:id="rId34"/>
      <p:boldItalic r:id="rId35"/>
    </p:embeddedFont>
    <p:embeddedFont>
      <p:font typeface="Verdana" panose="020B0604030504040204" pitchFamily="34" charset="0"/>
      <p:regular r:id="rId36"/>
      <p:bold r:id="rId37"/>
      <p:italic r:id="rId38"/>
      <p:boldItalic r:id="rId39"/>
    </p:embeddedFont>
  </p:embeddedFontLst>
  <p:custDataLst>
    <p:tags r:id="rId40"/>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7" roundtripDataSignature="AMtx7miIyBGqFJiBIVMPSSJVJ08VgmQ4iw=="/>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od_eceblr gitam" initials="" lastIdx="6"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E38AA3-9336-40A2-81D9-8453E0AAC789}" v="6" dt="2025-09-25T07:34:24.491"/>
  </p1510:revLst>
</p1510:revInfo>
</file>

<file path=ppt/tableStyles.xml><?xml version="1.0" encoding="utf-8"?>
<a:tblStyleLst xmlns:a="http://schemas.openxmlformats.org/drawingml/2006/main" def="{DE7AD339-51BE-4A38-A1C7-CCF28897F289}">
  <a:tblStyle styleId="{DE7AD339-51BE-4A38-A1C7-CCF28897F289}"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DA924C56-2605-4F23-9EB3-E9BB6EE8B9F5}"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51EE4F-AFDD-4CAF-9A68-E5F7998E488A}" styleName="Table_2">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DAE93928-965C-4434-93D3-DF2355B07969}" styleName="Table_3">
    <a:wholeTbl>
      <a:tcTxStyle b="off" i="off">
        <a:font>
          <a:latin typeface="Calibri"/>
          <a:ea typeface="Calibri"/>
          <a:cs typeface="Calibr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EEF631A4-29D2-40AD-BCCE-37D0C2C57A83}" styleName="Table_4">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FFF5E7"/>
          </a:solidFill>
        </a:fill>
      </a:tcStyle>
    </a:wholeTbl>
    <a:band1H>
      <a:tcTxStyle/>
      <a:tcStyle>
        <a:tcBdr/>
        <a:fill>
          <a:solidFill>
            <a:srgbClr val="FFEACC"/>
          </a:solidFill>
        </a:fill>
      </a:tcStyle>
    </a:band1H>
    <a:band2H>
      <a:tcTxStyle/>
      <a:tcStyle>
        <a:tcBdr/>
      </a:tcStyle>
    </a:band2H>
    <a:band1V>
      <a:tcTxStyle/>
      <a:tcStyle>
        <a:tcBdr/>
        <a:fill>
          <a:solidFill>
            <a:srgbClr val="FFEACC"/>
          </a:solidFill>
        </a:fill>
      </a:tcStyle>
    </a:band1V>
    <a:band2V>
      <a:tcTxStyle/>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D26335F9-F63F-485A-8836-33AD16E12051}" styleName="Table_5">
    <a:wholeTbl>
      <a:tcTxStyle b="off" i="off">
        <a:font>
          <a:latin typeface="Calibri"/>
          <a:ea typeface="Calibri"/>
          <a:cs typeface="Calibr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FA376B42-5B4D-4A95-80B0-B5B1E67FD56F}" styleName="Table_6">
    <a:wholeTbl>
      <a:tcTxStyle b="off" i="off">
        <a:font>
          <a:latin typeface="Arial"/>
          <a:ea typeface="Arial"/>
          <a:cs typeface="Arial"/>
        </a:font>
        <a:srgbClr val="282828"/>
      </a:tcTxStyle>
      <a:tcStyle>
        <a:tcBdr>
          <a:left>
            <a:ln w="12700" cap="flat" cmpd="sng">
              <a:solidFill>
                <a:srgbClr val="FFFFFF"/>
              </a:solidFill>
              <a:prstDash val="solid"/>
              <a:round/>
              <a:headEnd type="none" w="sm" len="sm"/>
              <a:tailEnd type="none" w="sm" len="sm"/>
            </a:ln>
          </a:left>
          <a:right>
            <a:ln w="12700" cap="flat" cmpd="sng">
              <a:solidFill>
                <a:srgbClr val="FFFFFF"/>
              </a:solidFill>
              <a:prstDash val="solid"/>
              <a:round/>
              <a:headEnd type="none" w="sm" len="sm"/>
              <a:tailEnd type="none" w="sm" len="sm"/>
            </a:ln>
          </a:right>
          <a:top>
            <a:ln w="12700" cap="flat" cmpd="sng">
              <a:solidFill>
                <a:srgbClr val="FFFFFF"/>
              </a:solidFill>
              <a:prstDash val="solid"/>
              <a:round/>
              <a:headEnd type="none" w="sm" len="sm"/>
              <a:tailEnd type="none" w="sm" len="sm"/>
            </a:ln>
          </a:top>
          <a:bottom>
            <a:ln w="12700" cap="flat" cmpd="sng">
              <a:solidFill>
                <a:srgbClr val="FFFFFF"/>
              </a:solidFill>
              <a:prstDash val="solid"/>
              <a:round/>
              <a:headEnd type="none" w="sm" len="sm"/>
              <a:tailEnd type="none" w="sm" len="sm"/>
            </a:ln>
          </a:bottom>
          <a:insideH>
            <a:ln w="12700" cap="flat" cmpd="sng">
              <a:solidFill>
                <a:srgbClr val="FFFFFF"/>
              </a:solidFill>
              <a:prstDash val="solid"/>
              <a:round/>
              <a:headEnd type="none" w="sm" len="sm"/>
              <a:tailEnd type="none" w="sm" len="sm"/>
            </a:ln>
          </a:insideH>
          <a:insideV>
            <a:ln w="12700" cap="flat" cmpd="sng">
              <a:solidFill>
                <a:srgbClr val="FFFFFF"/>
              </a:solidFill>
              <a:prstDash val="solid"/>
              <a:round/>
              <a:headEnd type="none" w="sm" len="sm"/>
              <a:tailEnd type="none" w="sm" len="sm"/>
            </a:ln>
          </a:insideV>
        </a:tcBdr>
        <a:fill>
          <a:solidFill>
            <a:srgbClr val="FFF5E7"/>
          </a:solidFill>
        </a:fill>
      </a:tcStyle>
    </a:wholeTbl>
    <a:band1H>
      <a:tcTxStyle/>
      <a:tcStyle>
        <a:tcBdr/>
        <a:fill>
          <a:solidFill>
            <a:srgbClr val="FFEACC"/>
          </a:solidFill>
        </a:fill>
      </a:tcStyle>
    </a:band1H>
    <a:band2H>
      <a:tcTxStyle/>
      <a:tcStyle>
        <a:tcBdr/>
      </a:tcStyle>
    </a:band2H>
    <a:band1V>
      <a:tcTxStyle/>
      <a:tcStyle>
        <a:tcBdr/>
        <a:fill>
          <a:solidFill>
            <a:srgbClr val="FFEACC"/>
          </a:solidFill>
        </a:fill>
      </a:tcStyle>
    </a:band1V>
    <a:band2V>
      <a:tcTxStyle/>
      <a:tcStyle>
        <a:tcBdr/>
      </a:tcStyle>
    </a:band2V>
    <a:lastCol>
      <a:tcTxStyle b="on" i="off">
        <a:font>
          <a:latin typeface="Arial"/>
          <a:ea typeface="Arial"/>
          <a:cs typeface="Arial"/>
        </a:font>
        <a:srgbClr val="FFFFFF"/>
      </a:tcTxStyle>
      <a:tcStyle>
        <a:tcBdr/>
        <a:fill>
          <a:solidFill>
            <a:srgbClr val="FFC639"/>
          </a:solidFill>
        </a:fill>
      </a:tcStyle>
    </a:lastCol>
    <a:firstCol>
      <a:tcTxStyle b="on" i="off">
        <a:font>
          <a:latin typeface="Arial"/>
          <a:ea typeface="Arial"/>
          <a:cs typeface="Arial"/>
        </a:font>
        <a:srgbClr val="FFFFFF"/>
      </a:tcTxStyle>
      <a:tcStyle>
        <a:tcBdr/>
        <a:fill>
          <a:solidFill>
            <a:srgbClr val="FFC639"/>
          </a:solidFill>
        </a:fill>
      </a:tcStyle>
    </a:firstCol>
    <a:lastRow>
      <a:tcTxStyle b="on" i="off">
        <a:font>
          <a:latin typeface="Arial"/>
          <a:ea typeface="Arial"/>
          <a:cs typeface="Arial"/>
        </a:font>
        <a:srgbClr val="FFFFFF"/>
      </a:tcTxStyle>
      <a:tcStyle>
        <a:tcBdr>
          <a:top>
            <a:ln w="38100" cap="flat" cmpd="sng">
              <a:solidFill>
                <a:srgbClr val="FFFFFF"/>
              </a:solidFill>
              <a:prstDash val="solid"/>
              <a:round/>
              <a:headEnd type="none" w="sm" len="sm"/>
              <a:tailEnd type="none" w="sm" len="sm"/>
            </a:ln>
          </a:top>
        </a:tcBdr>
        <a:fill>
          <a:solidFill>
            <a:srgbClr val="FFC639"/>
          </a:solidFill>
        </a:fill>
      </a:tcStyle>
    </a:lastRow>
    <a:seCell>
      <a:tcTxStyle/>
      <a:tcStyle>
        <a:tcBdr/>
      </a:tcStyle>
    </a:seCell>
    <a:swCell>
      <a:tcTxStyle/>
      <a:tcStyle>
        <a:tcBdr/>
      </a:tcStyle>
    </a:swCell>
    <a:firstRow>
      <a:tcTxStyle b="on" i="off">
        <a:font>
          <a:latin typeface="Arial"/>
          <a:ea typeface="Arial"/>
          <a:cs typeface="Arial"/>
        </a:font>
        <a:srgbClr val="FFFFFF"/>
      </a:tcTxStyle>
      <a:tcStyle>
        <a:tcBdr>
          <a:bottom>
            <a:ln w="38100" cap="flat" cmpd="sng">
              <a:solidFill>
                <a:srgbClr val="FFFFFF"/>
              </a:solidFill>
              <a:prstDash val="solid"/>
              <a:round/>
              <a:headEnd type="none" w="sm" len="sm"/>
              <a:tailEnd type="none" w="sm" len="sm"/>
            </a:ln>
          </a:bottom>
        </a:tcBdr>
        <a:fill>
          <a:solidFill>
            <a:srgbClr val="FFC639"/>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94660"/>
  </p:normalViewPr>
  <p:slideViewPr>
    <p:cSldViewPr snapToGrid="0">
      <p:cViewPr varScale="1">
        <p:scale>
          <a:sx n="84" d="100"/>
          <a:sy n="84" d="100"/>
        </p:scale>
        <p:origin x="648" y="72"/>
      </p:cViewPr>
      <p:guideLst/>
    </p:cSldViewPr>
  </p:slideViewPr>
  <p:notesTextViewPr>
    <p:cViewPr>
      <p:scale>
        <a:sx n="1" d="1"/>
        <a:sy n="1" d="1"/>
      </p:scale>
      <p:origin x="0" y="0"/>
    </p:cViewPr>
  </p:notesTextViewPr>
  <p:notesViewPr>
    <p:cSldViewPr snapToGrid="0">
      <p:cViewPr varScale="1">
        <p:scale>
          <a:sx n="66" d="100"/>
          <a:sy n="66" d="100"/>
        </p:scale>
        <p:origin x="333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9" Type="http://schemas.openxmlformats.org/officeDocument/2006/relationships/font" Target="fonts/font23.fntdata"/><Relationship Id="rId93"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font" Target="fonts/font5.fntdata"/><Relationship Id="rId34" Type="http://schemas.openxmlformats.org/officeDocument/2006/relationships/font" Target="fonts/font18.fntdata"/><Relationship Id="rId89"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font" Target="fonts/font17.fntdata"/><Relationship Id="rId38" Type="http://schemas.openxmlformats.org/officeDocument/2006/relationships/font" Target="fonts/font22.fntdata"/><Relationship Id="rId92"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font" Target="fonts/font4.fntdata"/><Relationship Id="rId29" Type="http://schemas.openxmlformats.org/officeDocument/2006/relationships/font" Target="fonts/font13.fntdata"/><Relationship Id="rId88" Type="http://schemas.openxmlformats.org/officeDocument/2006/relationships/commentAuthors" Target="commentAuthors.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font" Target="fonts/font16.fntdata"/><Relationship Id="rId37" Type="http://schemas.openxmlformats.org/officeDocument/2006/relationships/font" Target="fonts/font21.fntdata"/><Relationship Id="rId40" Type="http://schemas.openxmlformats.org/officeDocument/2006/relationships/tags" Target="tags/tag1.xml"/><Relationship Id="rId87" Type="http://customschemas.google.com/relationships/presentationmetadata" Target="metadata"/><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font" Target="fonts/font7.fntdata"/><Relationship Id="rId28" Type="http://schemas.openxmlformats.org/officeDocument/2006/relationships/font" Target="fonts/font12.fntdata"/><Relationship Id="rId36" Type="http://schemas.openxmlformats.org/officeDocument/2006/relationships/font" Target="fonts/font20.fntdata"/><Relationship Id="rId90"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font" Target="fonts/font1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font" Target="fonts/font14.fntdata"/><Relationship Id="rId35" Type="http://schemas.openxmlformats.org/officeDocument/2006/relationships/font" Target="fonts/font19.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755F02E-3C08-AE1E-8586-E8E7CD09905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87E25FAD-57C3-48A0-8DDC-E6630F1621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014F2F-8EAD-49A7-A8EF-9A8E9DCC375B}" type="datetimeFigureOut">
              <a:rPr lang="en-IN" smtClean="0"/>
              <a:t>21-11-2025</a:t>
            </a:fld>
            <a:endParaRPr lang="en-IN"/>
          </a:p>
        </p:txBody>
      </p:sp>
      <p:sp>
        <p:nvSpPr>
          <p:cNvPr id="4" name="Footer Placeholder 3">
            <a:extLst>
              <a:ext uri="{FF2B5EF4-FFF2-40B4-BE49-F238E27FC236}">
                <a16:creationId xmlns:a16="http://schemas.microsoft.com/office/drawing/2014/main" id="{2965DB5B-4D1B-4F17-4428-BC3F4594214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8B6874CE-76D5-C303-BA82-2A7E796E0B5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454583-99CA-4BB1-8621-21CE87B92BEE}" type="slidenum">
              <a:rPr lang="en-IN" smtClean="0"/>
              <a:t>‹#›</a:t>
            </a:fld>
            <a:endParaRPr lang="en-IN"/>
          </a:p>
        </p:txBody>
      </p:sp>
    </p:spTree>
    <p:extLst>
      <p:ext uri="{BB962C8B-B14F-4D97-AF65-F5344CB8AC3E}">
        <p14:creationId xmlns:p14="http://schemas.microsoft.com/office/powerpoint/2010/main" val="132723353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Plus Jakarta Sans"/>
                <a:ea typeface="Plus Jakarta Sans"/>
                <a:cs typeface="Plus Jakarta Sans"/>
                <a:sym typeface="Plus Jakarta Sans"/>
              </a:rPr>
              <a:t>‹#›</a:t>
            </a:fld>
            <a:endParaRPr sz="1200" b="0" i="0" u="none" strike="noStrike" cap="none">
              <a:solidFill>
                <a:schemeClr val="dk1"/>
              </a:solidFill>
              <a:latin typeface="Plus Jakarta Sans"/>
              <a:ea typeface="Plus Jakarta Sans"/>
              <a:cs typeface="Plus Jakarta Sans"/>
              <a:sym typeface="Plus Jakarta Sans"/>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smtClean="0">
                <a:solidFill>
                  <a:schemeClr val="dk1"/>
                </a:solidFill>
                <a:latin typeface="Plus Jakarta Sans"/>
                <a:ea typeface="Plus Jakarta Sans"/>
                <a:cs typeface="Plus Jakarta Sans"/>
                <a:sym typeface="Plus Jakarta Sans"/>
              </a:rPr>
              <a:t>1</a:t>
            </a:fld>
            <a:endParaRPr lang="en-US" sz="1200" b="0" i="0" u="none" strike="noStrike" cap="none">
              <a:solidFill>
                <a:schemeClr val="dk1"/>
              </a:solidFill>
              <a:latin typeface="Plus Jakarta Sans"/>
              <a:ea typeface="Plus Jakarta Sans"/>
              <a:cs typeface="Plus Jakarta Sans"/>
              <a:sym typeface="Plus Jakarta Sans"/>
            </a:endParaRPr>
          </a:p>
        </p:txBody>
      </p:sp>
    </p:spTree>
    <p:extLst>
      <p:ext uri="{BB962C8B-B14F-4D97-AF65-F5344CB8AC3E}">
        <p14:creationId xmlns:p14="http://schemas.microsoft.com/office/powerpoint/2010/main" val="4090236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a:extLst>
            <a:ext uri="{FF2B5EF4-FFF2-40B4-BE49-F238E27FC236}">
              <a16:creationId xmlns:a16="http://schemas.microsoft.com/office/drawing/2014/main" id="{4F5DA2E6-7F22-4241-BC20-FFB750256F3F}"/>
            </a:ext>
          </a:extLst>
        </p:cNvPr>
        <p:cNvGrpSpPr/>
        <p:nvPr/>
      </p:nvGrpSpPr>
      <p:grpSpPr>
        <a:xfrm>
          <a:off x="0" y="0"/>
          <a:ext cx="0" cy="0"/>
          <a:chOff x="0" y="0"/>
          <a:chExt cx="0" cy="0"/>
        </a:xfrm>
      </p:grpSpPr>
      <p:sp>
        <p:nvSpPr>
          <p:cNvPr id="108" name="Google Shape;108;p76:notes">
            <a:extLst>
              <a:ext uri="{FF2B5EF4-FFF2-40B4-BE49-F238E27FC236}">
                <a16:creationId xmlns:a16="http://schemas.microsoft.com/office/drawing/2014/main" id="{D982CAA8-A962-C840-8D2B-A34EF39199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9" name="Google Shape;109;p76:notes">
            <a:extLst>
              <a:ext uri="{FF2B5EF4-FFF2-40B4-BE49-F238E27FC236}">
                <a16:creationId xmlns:a16="http://schemas.microsoft.com/office/drawing/2014/main" id="{9C1CB7E4-6815-AC32-2B8D-06EDAD164C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6954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a:extLst>
            <a:ext uri="{FF2B5EF4-FFF2-40B4-BE49-F238E27FC236}">
              <a16:creationId xmlns:a16="http://schemas.microsoft.com/office/drawing/2014/main" id="{9E058B08-58E6-9F0F-DF87-5DED49A0DB0E}"/>
            </a:ext>
          </a:extLst>
        </p:cNvPr>
        <p:cNvGrpSpPr/>
        <p:nvPr/>
      </p:nvGrpSpPr>
      <p:grpSpPr>
        <a:xfrm>
          <a:off x="0" y="0"/>
          <a:ext cx="0" cy="0"/>
          <a:chOff x="0" y="0"/>
          <a:chExt cx="0" cy="0"/>
        </a:xfrm>
      </p:grpSpPr>
      <p:sp>
        <p:nvSpPr>
          <p:cNvPr id="108" name="Google Shape;108;p76:notes">
            <a:extLst>
              <a:ext uri="{FF2B5EF4-FFF2-40B4-BE49-F238E27FC236}">
                <a16:creationId xmlns:a16="http://schemas.microsoft.com/office/drawing/2014/main" id="{53096C82-8867-D00C-A568-BCD7CB58DA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9" name="Google Shape;109;p76:notes">
            <a:extLst>
              <a:ext uri="{FF2B5EF4-FFF2-40B4-BE49-F238E27FC236}">
                <a16:creationId xmlns:a16="http://schemas.microsoft.com/office/drawing/2014/main" id="{BAA3ED4A-F4DD-BC77-8BF5-0B54F9756B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06798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9"/>
        <p:cNvGrpSpPr/>
        <p:nvPr/>
      </p:nvGrpSpPr>
      <p:grpSpPr>
        <a:xfrm>
          <a:off x="0" y="0"/>
          <a:ext cx="0" cy="0"/>
          <a:chOff x="0" y="0"/>
          <a:chExt cx="0" cy="0"/>
        </a:xfrm>
      </p:grpSpPr>
      <p:sp>
        <p:nvSpPr>
          <p:cNvPr id="740" name="Google Shape;740;g2fee63df26b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41" name="Google Shape;741;g2fee63df26b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Custom Layout">
  <p:cSld name="1_Custom Layout">
    <p:spTree>
      <p:nvGrpSpPr>
        <p:cNvPr id="1" name="Shape 23"/>
        <p:cNvGrpSpPr/>
        <p:nvPr/>
      </p:nvGrpSpPr>
      <p:grpSpPr>
        <a:xfrm>
          <a:off x="0" y="0"/>
          <a:ext cx="0" cy="0"/>
          <a:chOff x="0" y="0"/>
          <a:chExt cx="0" cy="0"/>
        </a:xfrm>
      </p:grpSpPr>
      <p:sp>
        <p:nvSpPr>
          <p:cNvPr id="24" name="Google Shape;24;p48"/>
          <p:cNvSpPr>
            <a:spLocks noGrp="1"/>
          </p:cNvSpPr>
          <p:nvPr>
            <p:ph type="pic" idx="2"/>
          </p:nvPr>
        </p:nvSpPr>
        <p:spPr>
          <a:xfrm>
            <a:off x="0" y="0"/>
            <a:ext cx="12192000" cy="6858000"/>
          </a:xfrm>
          <a:prstGeom prst="rect">
            <a:avLst/>
          </a:prstGeom>
          <a:solidFill>
            <a:srgbClr val="F2F2F2"/>
          </a:solidFill>
          <a:ln>
            <a:noFill/>
          </a:ln>
        </p:spPr>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9_Title Slide">
  <p:cSld name="29_Title Slide">
    <p:spTree>
      <p:nvGrpSpPr>
        <p:cNvPr id="1" name="Shape 25"/>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General Content">
  <p:cSld name="General Content">
    <p:spTree>
      <p:nvGrpSpPr>
        <p:cNvPr id="1" name="Shape 26"/>
        <p:cNvGrpSpPr/>
        <p:nvPr/>
      </p:nvGrpSpPr>
      <p:grpSpPr>
        <a:xfrm>
          <a:off x="0" y="0"/>
          <a:ext cx="0" cy="0"/>
          <a:chOff x="0" y="0"/>
          <a:chExt cx="0" cy="0"/>
        </a:xfrm>
      </p:grpSpPr>
      <p:sp>
        <p:nvSpPr>
          <p:cNvPr id="27" name="Google Shape;27;g2f68141a545_0_445"/>
          <p:cNvSpPr/>
          <p:nvPr/>
        </p:nvSpPr>
        <p:spPr>
          <a:xfrm>
            <a:off x="0" y="2689"/>
            <a:ext cx="688500" cy="6858000"/>
          </a:xfrm>
          <a:prstGeom prst="rect">
            <a:avLst/>
          </a:prstGeom>
          <a:solidFill>
            <a:srgbClr val="059AB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8" name="Google Shape;28;g2f68141a545_0_445"/>
          <p:cNvSpPr txBox="1">
            <a:spLocks noGrp="1"/>
          </p:cNvSpPr>
          <p:nvPr>
            <p:ph type="title"/>
          </p:nvPr>
        </p:nvSpPr>
        <p:spPr>
          <a:xfrm>
            <a:off x="850492" y="245369"/>
            <a:ext cx="7572600" cy="5310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rgbClr val="037692"/>
              </a:buClr>
              <a:buSzPts val="2400"/>
              <a:buFont typeface="Poppins SemiBold"/>
              <a:buNone/>
              <a:defRPr sz="2400" b="0" i="0" u="none" strike="noStrike" cap="none">
                <a:solidFill>
                  <a:srgbClr val="037692"/>
                </a:solidFill>
                <a:latin typeface="Poppins SemiBold"/>
                <a:ea typeface="Poppins SemiBold"/>
                <a:cs typeface="Poppins SemiBold"/>
                <a:sym typeface="Poppins SemiBold"/>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9" name="Google Shape;29;g2f68141a545_0_445"/>
          <p:cNvPicPr preferRelativeResize="0"/>
          <p:nvPr/>
        </p:nvPicPr>
        <p:blipFill rotWithShape="1">
          <a:blip r:embed="rId2">
            <a:alphaModFix/>
          </a:blip>
          <a:srcRect/>
          <a:stretch/>
        </p:blipFill>
        <p:spPr>
          <a:xfrm flipH="1">
            <a:off x="850490" y="902171"/>
            <a:ext cx="790813" cy="48294"/>
          </a:xfrm>
          <a:prstGeom prst="rect">
            <a:avLst/>
          </a:prstGeom>
          <a:noFill/>
          <a:ln>
            <a:noFill/>
          </a:ln>
        </p:spPr>
      </p:pic>
      <p:pic>
        <p:nvPicPr>
          <p:cNvPr id="30" name="Google Shape;30;g2f68141a545_0_445"/>
          <p:cNvPicPr preferRelativeResize="0"/>
          <p:nvPr/>
        </p:nvPicPr>
        <p:blipFill rotWithShape="1">
          <a:blip r:embed="rId3">
            <a:alphaModFix/>
          </a:blip>
          <a:srcRect/>
          <a:stretch/>
        </p:blipFill>
        <p:spPr>
          <a:xfrm>
            <a:off x="1010470" y="5707756"/>
            <a:ext cx="805981" cy="9048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5_Title Slide">
  <p:cSld name="25_Title Slide">
    <p:spTree>
      <p:nvGrpSpPr>
        <p:cNvPr id="1" name="Shape 31"/>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2"/>
        <p:cNvGrpSpPr/>
        <p:nvPr/>
      </p:nvGrpSpPr>
      <p:grpSpPr>
        <a:xfrm>
          <a:off x="0" y="0"/>
          <a:ext cx="0" cy="0"/>
          <a:chOff x="0" y="0"/>
          <a:chExt cx="0" cy="0"/>
        </a:xfrm>
      </p:grpSpPr>
      <p:sp>
        <p:nvSpPr>
          <p:cNvPr id="33" name="Google Shape;33;g27884b107a2_2_166"/>
          <p:cNvSpPr txBox="1">
            <a:spLocks noGrp="1"/>
          </p:cNvSpPr>
          <p:nvPr>
            <p:ph type="title"/>
          </p:nvPr>
        </p:nvSpPr>
        <p:spPr>
          <a:xfrm>
            <a:off x="415600" y="593367"/>
            <a:ext cx="11360700" cy="763500"/>
          </a:xfrm>
          <a:prstGeom prst="rect">
            <a:avLst/>
          </a:prstGeom>
          <a:noFill/>
          <a:ln>
            <a:noFill/>
          </a:ln>
        </p:spPr>
        <p:txBody>
          <a:bodyPr spcFirstLastPara="1" wrap="square" lIns="91425" tIns="91425" rIns="91425" bIns="91425" anchor="t" anchorCtr="0">
            <a:normAutofit/>
          </a:bodyPr>
          <a:lstStyle>
            <a:lvl1pPr marR="0" lvl="0" algn="l" rtl="0">
              <a:lnSpc>
                <a:spcPct val="90000"/>
              </a:lnSpc>
              <a:spcBef>
                <a:spcPts val="0"/>
              </a:spcBef>
              <a:spcAft>
                <a:spcPts val="0"/>
              </a:spcAft>
              <a:buClr>
                <a:schemeClr val="dk1"/>
              </a:buClr>
              <a:buSzPts val="2800"/>
              <a:buFont typeface="Arial"/>
              <a:buNone/>
              <a:defRPr sz="1400" b="0" i="0" u="none" strike="noStrike" cap="none">
                <a:solidFill>
                  <a:srgbClr val="000000"/>
                </a:solidFill>
                <a:latin typeface="Aharoni"/>
                <a:ea typeface="Aharoni"/>
                <a:cs typeface="Aharoni"/>
                <a:sym typeface="Aharoni"/>
              </a:defRPr>
            </a:lvl1pPr>
            <a:lvl2pPr marR="0" lvl="1"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9pPr>
          </a:lstStyle>
          <a:p>
            <a:endParaRPr/>
          </a:p>
        </p:txBody>
      </p:sp>
      <p:sp>
        <p:nvSpPr>
          <p:cNvPr id="34" name="Google Shape;34;g27884b107a2_2_166"/>
          <p:cNvSpPr txBox="1">
            <a:spLocks noGrp="1"/>
          </p:cNvSpPr>
          <p:nvPr>
            <p:ph type="body" idx="1"/>
          </p:nvPr>
        </p:nvSpPr>
        <p:spPr>
          <a:xfrm>
            <a:off x="415600" y="1536633"/>
            <a:ext cx="11360700" cy="45552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20000"/>
              </a:lnSpc>
              <a:spcBef>
                <a:spcPts val="0"/>
              </a:spcBef>
              <a:spcAft>
                <a:spcPts val="0"/>
              </a:spcAft>
              <a:buClr>
                <a:schemeClr val="dk1"/>
              </a:buClr>
              <a:buSzPts val="1800"/>
              <a:buFont typeface="Arial"/>
              <a:buChar char="●"/>
              <a:defRPr sz="1400" b="0" i="0" u="none" strike="noStrike" cap="none">
                <a:solidFill>
                  <a:srgbClr val="000000"/>
                </a:solidFill>
                <a:latin typeface="Aharoni"/>
                <a:ea typeface="Aharoni"/>
                <a:cs typeface="Aharoni"/>
                <a:sym typeface="Aharoni"/>
              </a:defRPr>
            </a:lvl1pPr>
            <a:lvl2pPr marL="914400" marR="0" lvl="1" indent="-317500" algn="l" rtl="0">
              <a:lnSpc>
                <a:spcPct val="12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317500" algn="l" rtl="0">
              <a:lnSpc>
                <a:spcPct val="12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3pPr>
            <a:lvl4pPr marL="1828800" marR="0" lvl="3" indent="-317500" algn="l" rtl="0">
              <a:lnSpc>
                <a:spcPct val="12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4pPr>
            <a:lvl5pPr marL="2286000" marR="0" lvl="4" indent="-317500" algn="l" rtl="0">
              <a:lnSpc>
                <a:spcPct val="12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5pPr>
            <a:lvl6pPr marL="2743200" marR="0" lvl="5" indent="-317500" algn="l" rtl="0">
              <a:lnSpc>
                <a:spcPct val="9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6pPr>
            <a:lvl7pPr marL="3200400" marR="0" lvl="6" indent="-317500" algn="l" rtl="0">
              <a:lnSpc>
                <a:spcPct val="9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7pPr>
            <a:lvl8pPr marL="3657600" marR="0" lvl="7" indent="-317500" algn="l" rtl="0">
              <a:lnSpc>
                <a:spcPct val="9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8pPr>
            <a:lvl9pPr marL="4114800" marR="0" lvl="8" indent="-317500" algn="l" rtl="0">
              <a:lnSpc>
                <a:spcPct val="9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5" name="Google Shape;35;g27884b107a2_2_166"/>
          <p:cNvSpPr txBox="1">
            <a:spLocks noGrp="1"/>
          </p:cNvSpPr>
          <p:nvPr>
            <p:ph type="sldNum" idx="12"/>
          </p:nvPr>
        </p:nvSpPr>
        <p:spPr>
          <a:xfrm>
            <a:off x="11296611" y="6217623"/>
            <a:ext cx="731700" cy="5247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1pPr>
            <a:lvl2pPr marL="0" marR="0" lvl="1"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2pPr>
            <a:lvl3pPr marL="0" marR="0" lvl="2"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3pPr>
            <a:lvl4pPr marL="0" marR="0" lvl="3"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4pPr>
            <a:lvl5pPr marL="0" marR="0" lvl="4"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5pPr>
            <a:lvl6pPr marL="0" marR="0" lvl="5"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6pPr>
            <a:lvl7pPr marL="0" marR="0" lvl="6"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7pPr>
            <a:lvl8pPr marL="0" marR="0" lvl="7"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8pPr>
            <a:lvl9pPr marL="0" marR="0" lvl="8"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36"/>
        <p:cNvGrpSpPr/>
        <p:nvPr/>
      </p:nvGrpSpPr>
      <p:grpSpPr>
        <a:xfrm>
          <a:off x="0" y="0"/>
          <a:ext cx="0" cy="0"/>
          <a:chOff x="0" y="0"/>
          <a:chExt cx="0" cy="0"/>
        </a:xfrm>
      </p:grpSpPr>
      <p:sp>
        <p:nvSpPr>
          <p:cNvPr id="37" name="Google Shape;37;g27884b107a2_0_178"/>
          <p:cNvSpPr>
            <a:spLocks noGrp="1"/>
          </p:cNvSpPr>
          <p:nvPr>
            <p:ph type="pic" idx="2"/>
          </p:nvPr>
        </p:nvSpPr>
        <p:spPr>
          <a:xfrm>
            <a:off x="1055687" y="1268413"/>
            <a:ext cx="4319700" cy="5040300"/>
          </a:xfrm>
          <a:prstGeom prst="rect">
            <a:avLst/>
          </a:prstGeom>
          <a:solidFill>
            <a:srgbClr val="F2F2F2"/>
          </a:solid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2_Title Slide">
  <p:cSld name="32_Title Slide">
    <p:spTree>
      <p:nvGrpSpPr>
        <p:cNvPr id="1" name="Shape 38"/>
        <p:cNvGrpSpPr/>
        <p:nvPr/>
      </p:nvGrpSpPr>
      <p:grpSpPr>
        <a:xfrm>
          <a:off x="0" y="0"/>
          <a:ext cx="0" cy="0"/>
          <a:chOff x="0" y="0"/>
          <a:chExt cx="0" cy="0"/>
        </a:xfrm>
      </p:grpSpPr>
      <p:sp>
        <p:nvSpPr>
          <p:cNvPr id="39" name="Google Shape;39;p85"/>
          <p:cNvSpPr/>
          <p:nvPr/>
        </p:nvSpPr>
        <p:spPr>
          <a:xfrm>
            <a:off x="6096000" y="3753134"/>
            <a:ext cx="6096000" cy="2555591"/>
          </a:xfrm>
          <a:prstGeom prst="rect">
            <a:avLst/>
          </a:prstGeom>
          <a:gradFill>
            <a:gsLst>
              <a:gs pos="0">
                <a:schemeClr val="accent2"/>
              </a:gs>
              <a:gs pos="96000">
                <a:srgbClr val="EA641A"/>
              </a:gs>
              <a:gs pos="100000">
                <a:srgbClr val="EA641A"/>
              </a:gs>
            </a:gsLst>
            <a:lin ang="54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lus Jakarta Sans"/>
              <a:ea typeface="Plus Jakarta Sans"/>
              <a:cs typeface="Plus Jakarta Sans"/>
              <a:sym typeface="Plus Jakarta Sans"/>
            </a:endParaRPr>
          </a:p>
        </p:txBody>
      </p:sp>
      <p:sp>
        <p:nvSpPr>
          <p:cNvPr id="40" name="Google Shape;40;p85"/>
          <p:cNvSpPr>
            <a:spLocks noGrp="1"/>
          </p:cNvSpPr>
          <p:nvPr>
            <p:ph type="pic" idx="2"/>
          </p:nvPr>
        </p:nvSpPr>
        <p:spPr>
          <a:xfrm>
            <a:off x="6816725" y="1268413"/>
            <a:ext cx="2381023" cy="2976935"/>
          </a:xfrm>
          <a:prstGeom prst="rect">
            <a:avLst/>
          </a:prstGeom>
          <a:solidFill>
            <a:srgbClr val="F2F2F2"/>
          </a:solidFill>
          <a:ln>
            <a:noFill/>
          </a:ln>
        </p:spPr>
      </p:sp>
      <p:sp>
        <p:nvSpPr>
          <p:cNvPr id="41" name="Google Shape;41;p85"/>
          <p:cNvSpPr>
            <a:spLocks noGrp="1"/>
          </p:cNvSpPr>
          <p:nvPr>
            <p:ph type="pic" idx="3"/>
          </p:nvPr>
        </p:nvSpPr>
        <p:spPr>
          <a:xfrm>
            <a:off x="9476015" y="1268413"/>
            <a:ext cx="2381023" cy="2976935"/>
          </a:xfrm>
          <a:prstGeom prst="rect">
            <a:avLst/>
          </a:prstGeom>
          <a:solidFill>
            <a:srgbClr val="F2F2F2"/>
          </a:solid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2"/>
        <p:cNvGrpSpPr/>
        <p:nvPr/>
      </p:nvGrpSpPr>
      <p:grpSpPr>
        <a:xfrm>
          <a:off x="0" y="0"/>
          <a:ext cx="0" cy="0"/>
          <a:chOff x="0" y="0"/>
          <a:chExt cx="0" cy="0"/>
        </a:xfrm>
      </p:grpSpPr>
      <p:sp>
        <p:nvSpPr>
          <p:cNvPr id="43" name="Google Shape;43;g27884b107a2_0_115"/>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marR="0" lvl="0" algn="ctr" rtl="0">
              <a:lnSpc>
                <a:spcPct val="90000"/>
              </a:lnSpc>
              <a:spcBef>
                <a:spcPts val="0"/>
              </a:spcBef>
              <a:spcAft>
                <a:spcPts val="0"/>
              </a:spcAft>
              <a:buClr>
                <a:schemeClr val="dk1"/>
              </a:buClr>
              <a:buSzPts val="6000"/>
              <a:buFont typeface="Calibri"/>
              <a:buChar char="●"/>
              <a:defRPr sz="6000" b="0" i="0" u="none" strike="noStrike" cap="none">
                <a:solidFill>
                  <a:srgbClr val="000000"/>
                </a:solidFill>
                <a:latin typeface="Aharoni"/>
                <a:ea typeface="Aharoni"/>
                <a:cs typeface="Aharoni"/>
                <a:sym typeface="Aharon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4" name="Google Shape;44;g27884b107a2_0_115"/>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rgbClr val="000000"/>
                </a:solidFill>
                <a:latin typeface="Aharoni"/>
                <a:ea typeface="Aharoni"/>
                <a:cs typeface="Aharoni"/>
                <a:sym typeface="Aharon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rgbClr val="000000"/>
                </a:solidFill>
                <a:latin typeface="Arial"/>
                <a:ea typeface="Arial"/>
                <a:cs typeface="Arial"/>
                <a:sym typeface="Arial"/>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rgbClr val="000000"/>
                </a:solidFill>
                <a:latin typeface="Arial"/>
                <a:ea typeface="Arial"/>
                <a:cs typeface="Arial"/>
                <a:sym typeface="Arial"/>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9pPr>
          </a:lstStyle>
          <a:p>
            <a:endParaRPr/>
          </a:p>
        </p:txBody>
      </p:sp>
      <p:sp>
        <p:nvSpPr>
          <p:cNvPr id="45" name="Google Shape;45;g27884b107a2_0_11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6" name="Google Shape;46;g27884b107a2_0_11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7" name="Google Shape;47;g27884b107a2_0_11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1pPr>
            <a:lvl2pPr marL="0" marR="0" lvl="1"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2pPr>
            <a:lvl3pPr marL="0" marR="0" lvl="2"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3pPr>
            <a:lvl4pPr marL="0" marR="0" lvl="3"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4pPr>
            <a:lvl5pPr marL="0" marR="0" lvl="4"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5pPr>
            <a:lvl6pPr marL="0" marR="0" lvl="5"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6pPr>
            <a:lvl7pPr marL="0" marR="0" lvl="6"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7pPr>
            <a:lvl8pPr marL="0" marR="0" lvl="7"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8pPr>
            <a:lvl9pPr marL="0" marR="0" lvl="8"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18"/>
        <p:cNvGrpSpPr/>
        <p:nvPr/>
      </p:nvGrpSpPr>
      <p:grpSpPr>
        <a:xfrm>
          <a:off x="0" y="0"/>
          <a:ext cx="0" cy="0"/>
          <a:chOff x="0" y="0"/>
          <a:chExt cx="0" cy="0"/>
        </a:xfrm>
      </p:grpSpPr>
      <p:sp>
        <p:nvSpPr>
          <p:cNvPr id="19" name="Google Shape;19;p41"/>
          <p:cNvSpPr>
            <a:spLocks noGrp="1"/>
          </p:cNvSpPr>
          <p:nvPr>
            <p:ph type="pic" idx="2"/>
          </p:nvPr>
        </p:nvSpPr>
        <p:spPr>
          <a:xfrm>
            <a:off x="1" y="0"/>
            <a:ext cx="12192000" cy="6858000"/>
          </a:xfrm>
          <a:prstGeom prst="rect">
            <a:avLst/>
          </a:prstGeom>
          <a:noFill/>
          <a:ln>
            <a:noFill/>
          </a:ln>
        </p:spPr>
      </p:sp>
      <p:sp>
        <p:nvSpPr>
          <p:cNvPr id="2" name="Google Shape;14;p38">
            <a:extLst>
              <a:ext uri="{FF2B5EF4-FFF2-40B4-BE49-F238E27FC236}">
                <a16:creationId xmlns:a16="http://schemas.microsoft.com/office/drawing/2014/main" id="{F1297DBC-90BB-B4E6-5D35-1E9745CE120C}"/>
              </a:ext>
            </a:extLst>
          </p:cNvPr>
          <p:cNvSpPr txBox="1">
            <a:spLocks noGrp="1"/>
          </p:cNvSpPr>
          <p:nvPr>
            <p:ph type="sldNum" idx="12"/>
          </p:nvPr>
        </p:nvSpPr>
        <p:spPr>
          <a:xfrm>
            <a:off x="9448799" y="6492875"/>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dirty="0"/>
          </a:p>
        </p:txBody>
      </p:sp>
    </p:spTree>
    <p:extLst>
      <p:ext uri="{BB962C8B-B14F-4D97-AF65-F5344CB8AC3E}">
        <p14:creationId xmlns:p14="http://schemas.microsoft.com/office/powerpoint/2010/main" val="29337338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E0C1"/>
        </a:solidFill>
        <a:effectLst/>
      </p:bgPr>
    </p:bg>
    <p:spTree>
      <p:nvGrpSpPr>
        <p:cNvPr id="1" name="Shape 9"/>
        <p:cNvGrpSpPr/>
        <p:nvPr/>
      </p:nvGrpSpPr>
      <p:grpSpPr>
        <a:xfrm>
          <a:off x="0" y="0"/>
          <a:ext cx="0" cy="0"/>
          <a:chOff x="0" y="0"/>
          <a:chExt cx="0" cy="0"/>
        </a:xfrm>
      </p:grpSpPr>
      <p:sp>
        <p:nvSpPr>
          <p:cNvPr id="10" name="Google Shape;10;p64"/>
          <p:cNvSpPr txBox="1"/>
          <p:nvPr/>
        </p:nvSpPr>
        <p:spPr>
          <a:xfrm>
            <a:off x="434411" y="6230138"/>
            <a:ext cx="4789808"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7F7F7F"/>
              </a:buClr>
              <a:buSzPts val="1800"/>
              <a:buFont typeface="Open Sans"/>
              <a:buNone/>
            </a:pPr>
            <a:r>
              <a:rPr lang="en-US" sz="1800" b="0" i="0" u="none" strike="noStrike" cap="none">
                <a:solidFill>
                  <a:srgbClr val="7F7F7F"/>
                </a:solidFill>
                <a:latin typeface="Open Sans"/>
                <a:ea typeface="Open Sans"/>
                <a:cs typeface="Open Sans"/>
                <a:sym typeface="Open Sans"/>
              </a:rPr>
              <a:t>Dept EECE, GST Bengaluru</a:t>
            </a:r>
            <a:endParaRPr sz="1800" b="0" i="0" u="none" strike="noStrike" cap="none">
              <a:solidFill>
                <a:srgbClr val="7F7F7F"/>
              </a:solidFill>
              <a:latin typeface="Open Sans"/>
              <a:ea typeface="Open Sans"/>
              <a:cs typeface="Open Sans"/>
              <a:sym typeface="Open Sans"/>
            </a:endParaRPr>
          </a:p>
        </p:txBody>
      </p:sp>
      <p:pic>
        <p:nvPicPr>
          <p:cNvPr id="11" name="Google Shape;11;p64"/>
          <p:cNvPicPr preferRelativeResize="0"/>
          <p:nvPr userDrawn="1"/>
        </p:nvPicPr>
        <p:blipFill rotWithShape="1">
          <a:blip r:embed="rId11">
            <a:alphaModFix/>
          </a:blip>
          <a:srcRect/>
          <a:stretch/>
        </p:blipFill>
        <p:spPr>
          <a:xfrm>
            <a:off x="10545066" y="6107763"/>
            <a:ext cx="1432859" cy="614082"/>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75"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orient="horz" pos="799">
          <p15:clr>
            <a:srgbClr val="A4A3A4"/>
          </p15:clr>
        </p15:guide>
        <p15:guide id="4" orient="horz" pos="346">
          <p15:clr>
            <a:srgbClr val="A4A3A4"/>
          </p15:clr>
        </p15:guide>
        <p15:guide id="5" orient="horz" pos="1253">
          <p15:clr>
            <a:srgbClr val="A4A3A4"/>
          </p15:clr>
        </p15:guide>
        <p15:guide id="6" orient="horz" pos="1706">
          <p15:clr>
            <a:srgbClr val="A4A3A4"/>
          </p15:clr>
        </p15:guide>
        <p15:guide id="7" orient="horz" pos="2614">
          <p15:clr>
            <a:srgbClr val="A4A3A4"/>
          </p15:clr>
        </p15:guide>
        <p15:guide id="8" orient="horz" pos="3067">
          <p15:clr>
            <a:srgbClr val="A4A3A4"/>
          </p15:clr>
        </p15:guide>
        <p15:guide id="9" orient="horz" pos="3521">
          <p15:clr>
            <a:srgbClr val="A4A3A4"/>
          </p15:clr>
        </p15:guide>
        <p15:guide id="10" orient="horz" pos="3974">
          <p15:clr>
            <a:srgbClr val="A4A3A4"/>
          </p15:clr>
        </p15:guide>
        <p15:guide id="11" pos="4294">
          <p15:clr>
            <a:srgbClr val="A4A3A4"/>
          </p15:clr>
        </p15:guide>
        <p15:guide id="12" pos="4747">
          <p15:clr>
            <a:srgbClr val="A4A3A4"/>
          </p15:clr>
        </p15:guide>
        <p15:guide id="13" pos="211">
          <p15:clr>
            <a:srgbClr val="A4A3A4"/>
          </p15:clr>
        </p15:guide>
        <p15:guide id="14" pos="665">
          <p15:clr>
            <a:srgbClr val="A4A3A4"/>
          </p15:clr>
        </p15:guide>
        <p15:guide id="15" pos="1118">
          <p15:clr>
            <a:srgbClr val="A4A3A4"/>
          </p15:clr>
        </p15:guide>
        <p15:guide id="16" pos="1572">
          <p15:clr>
            <a:srgbClr val="A4A3A4"/>
          </p15:clr>
        </p15:guide>
        <p15:guide id="17" pos="2026">
          <p15:clr>
            <a:srgbClr val="A4A3A4"/>
          </p15:clr>
        </p15:guide>
        <p15:guide id="18" pos="2479">
          <p15:clr>
            <a:srgbClr val="A4A3A4"/>
          </p15:clr>
        </p15:guide>
        <p15:guide id="19" pos="2933">
          <p15:clr>
            <a:srgbClr val="A4A3A4"/>
          </p15:clr>
        </p15:guide>
        <p15:guide id="20" pos="3386">
          <p15:clr>
            <a:srgbClr val="A4A3A4"/>
          </p15:clr>
        </p15:guide>
        <p15:guide id="21" pos="5201">
          <p15:clr>
            <a:srgbClr val="A4A3A4"/>
          </p15:clr>
        </p15:guide>
        <p15:guide id="22" pos="5654">
          <p15:clr>
            <a:srgbClr val="A4A3A4"/>
          </p15:clr>
        </p15:guide>
        <p15:guide id="23" pos="6108">
          <p15:clr>
            <a:srgbClr val="A4A3A4"/>
          </p15:clr>
        </p15:guide>
        <p15:guide id="24" pos="6562">
          <p15:clr>
            <a:srgbClr val="A4A3A4"/>
          </p15:clr>
        </p15:guide>
        <p15:guide id="25" pos="7015">
          <p15:clr>
            <a:srgbClr val="A4A3A4"/>
          </p15:clr>
        </p15:guide>
        <p15:guide id="26" pos="7469">
          <p15:clr>
            <a:srgbClr val="A4A3A4"/>
          </p15:clr>
        </p15:guide>
        <p15:guide id="27" pos="347">
          <p15:clr>
            <a:srgbClr val="F26B43"/>
          </p15:clr>
        </p15:guide>
        <p15:guide id="28" pos="733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anik187/FPGA_BASED_HEALTH_MONITORING_SYSTEM" TargetMode="Externa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eg"/><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62AE9A7-FBD8-C9FF-7958-4AF112522506}"/>
              </a:ext>
            </a:extLst>
          </p:cNvPr>
          <p:cNvSpPr>
            <a:spLocks noGrp="1"/>
          </p:cNvSpPr>
          <p:nvPr>
            <p:ph type="sldNum" idx="4294967295"/>
          </p:nvPr>
        </p:nvSpPr>
        <p:spPr>
          <a:xfrm>
            <a:off x="11460163" y="6218238"/>
            <a:ext cx="731837" cy="523875"/>
          </a:xfrm>
          <a:prstGeom prst="rect">
            <a:avLst/>
          </a:prstGeom>
        </p:spPr>
        <p:txBody>
          <a:bodyPr/>
          <a:lstStyle/>
          <a:p>
            <a:pPr marL="0" lvl="0" indent="0" algn="r" rtl="0">
              <a:spcBef>
                <a:spcPts val="0"/>
              </a:spcBef>
              <a:spcAft>
                <a:spcPts val="0"/>
              </a:spcAft>
              <a:buNone/>
            </a:pPr>
            <a:fld id="{00000000-1234-1234-1234-123412341234}" type="slidenum">
              <a:rPr lang="en-US" smtClean="0"/>
              <a:t>1</a:t>
            </a:fld>
            <a:endParaRPr lang="en-US"/>
          </a:p>
        </p:txBody>
      </p:sp>
      <p:pic>
        <p:nvPicPr>
          <p:cNvPr id="5" name="Google Shape;87;p1">
            <a:extLst>
              <a:ext uri="{FF2B5EF4-FFF2-40B4-BE49-F238E27FC236}">
                <a16:creationId xmlns:a16="http://schemas.microsoft.com/office/drawing/2014/main" id="{AD01CF2C-8332-E700-171E-F6425D2B2D23}"/>
              </a:ext>
            </a:extLst>
          </p:cNvPr>
          <p:cNvPicPr preferRelativeResize="0"/>
          <p:nvPr/>
        </p:nvPicPr>
        <p:blipFill rotWithShape="1">
          <a:blip r:embed="rId3">
            <a:alphaModFix amt="20000"/>
          </a:blip>
          <a:srcRect l="1514" r="2310" b="19493"/>
          <a:stretch/>
        </p:blipFill>
        <p:spPr>
          <a:xfrm>
            <a:off x="-1235" y="16553"/>
            <a:ext cx="12193235" cy="6734914"/>
          </a:xfrm>
          <a:prstGeom prst="rect">
            <a:avLst/>
          </a:prstGeom>
          <a:noFill/>
          <a:ln>
            <a:noFill/>
          </a:ln>
        </p:spPr>
      </p:pic>
      <p:sp>
        <p:nvSpPr>
          <p:cNvPr id="6" name="Google Shape;88;p1">
            <a:extLst>
              <a:ext uri="{FF2B5EF4-FFF2-40B4-BE49-F238E27FC236}">
                <a16:creationId xmlns:a16="http://schemas.microsoft.com/office/drawing/2014/main" id="{74F321D0-F3BA-5572-DBB4-C5E77739C8E5}"/>
              </a:ext>
            </a:extLst>
          </p:cNvPr>
          <p:cNvSpPr txBox="1"/>
          <p:nvPr/>
        </p:nvSpPr>
        <p:spPr>
          <a:xfrm>
            <a:off x="2904067" y="3157752"/>
            <a:ext cx="6383867" cy="52318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i="0" u="none" strike="noStrike" cap="none" dirty="0">
                <a:solidFill>
                  <a:srgbClr val="007069"/>
                </a:solidFill>
                <a:latin typeface="Open Sans"/>
                <a:ea typeface="Open Sans"/>
                <a:cs typeface="Open Sans"/>
                <a:sym typeface="Open Sans"/>
              </a:rPr>
              <a:t>GITAM (Deemed-to-be) University</a:t>
            </a:r>
            <a:endParaRPr lang="en-US" sz="2800" dirty="0"/>
          </a:p>
        </p:txBody>
      </p:sp>
      <p:sp>
        <p:nvSpPr>
          <p:cNvPr id="11" name="Google Shape;93;p1">
            <a:extLst>
              <a:ext uri="{FF2B5EF4-FFF2-40B4-BE49-F238E27FC236}">
                <a16:creationId xmlns:a16="http://schemas.microsoft.com/office/drawing/2014/main" id="{5F318AA7-C96A-3AAD-7C94-E53133C5AD6C}"/>
              </a:ext>
            </a:extLst>
          </p:cNvPr>
          <p:cNvSpPr/>
          <p:nvPr/>
        </p:nvSpPr>
        <p:spPr>
          <a:xfrm>
            <a:off x="3060700" y="6148918"/>
            <a:ext cx="6096000"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dirty="0">
                <a:solidFill>
                  <a:srgbClr val="7F7F7F"/>
                </a:solidFill>
                <a:latin typeface="Montserrat Medium"/>
                <a:ea typeface="Montserrat Medium"/>
                <a:cs typeface="Montserrat Medium"/>
                <a:sym typeface="Montserrat Medium"/>
              </a:rPr>
              <a:t>www.gitam.edu</a:t>
            </a:r>
            <a:endParaRPr sz="1200" b="0" i="0" u="none" strike="noStrike" cap="none" dirty="0">
              <a:solidFill>
                <a:srgbClr val="7F7F7F"/>
              </a:solidFill>
              <a:latin typeface="Montserrat Medium"/>
              <a:ea typeface="Montserrat Medium"/>
              <a:cs typeface="Montserrat Medium"/>
              <a:sym typeface="Montserrat Medium"/>
            </a:endParaRPr>
          </a:p>
        </p:txBody>
      </p:sp>
      <p:grpSp>
        <p:nvGrpSpPr>
          <p:cNvPr id="12" name="Google Shape;94;p1">
            <a:extLst>
              <a:ext uri="{FF2B5EF4-FFF2-40B4-BE49-F238E27FC236}">
                <a16:creationId xmlns:a16="http://schemas.microsoft.com/office/drawing/2014/main" id="{27E17DC4-EBA4-36D1-CC55-FFAF1FD93FF1}"/>
              </a:ext>
            </a:extLst>
          </p:cNvPr>
          <p:cNvGrpSpPr/>
          <p:nvPr/>
        </p:nvGrpSpPr>
        <p:grpSpPr>
          <a:xfrm rot="2700000">
            <a:off x="5984712" y="5183993"/>
            <a:ext cx="231043" cy="225933"/>
            <a:chOff x="11087593" y="13905"/>
            <a:chExt cx="1085533" cy="1061509"/>
          </a:xfrm>
        </p:grpSpPr>
        <p:sp>
          <p:nvSpPr>
            <p:cNvPr id="13" name="Google Shape;95;p1">
              <a:extLst>
                <a:ext uri="{FF2B5EF4-FFF2-40B4-BE49-F238E27FC236}">
                  <a16:creationId xmlns:a16="http://schemas.microsoft.com/office/drawing/2014/main" id="{AE7092A2-B102-1273-6C25-E1736799EF72}"/>
                </a:ext>
              </a:extLst>
            </p:cNvPr>
            <p:cNvSpPr/>
            <p:nvPr/>
          </p:nvSpPr>
          <p:spPr>
            <a:xfrm>
              <a:off x="11087593" y="548342"/>
              <a:ext cx="537028" cy="527072"/>
            </a:xfrm>
            <a:prstGeom prst="rect">
              <a:avLst/>
            </a:prstGeom>
            <a:solidFill>
              <a:srgbClr val="DF2A3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351"/>
                <a:buFont typeface="Arial"/>
                <a:buNone/>
              </a:pPr>
              <a:endParaRPr sz="1351" b="0" i="0" u="none" strike="noStrike" cap="none">
                <a:solidFill>
                  <a:schemeClr val="lt1"/>
                </a:solidFill>
                <a:latin typeface="Calibri"/>
                <a:ea typeface="Calibri"/>
                <a:cs typeface="Calibri"/>
                <a:sym typeface="Calibri"/>
              </a:endParaRPr>
            </a:p>
          </p:txBody>
        </p:sp>
        <p:sp>
          <p:nvSpPr>
            <p:cNvPr id="14" name="Google Shape;96;p1">
              <a:extLst>
                <a:ext uri="{FF2B5EF4-FFF2-40B4-BE49-F238E27FC236}">
                  <a16:creationId xmlns:a16="http://schemas.microsoft.com/office/drawing/2014/main" id="{CD50D2DC-2455-5951-3C5D-BB02F217709E}"/>
                </a:ext>
              </a:extLst>
            </p:cNvPr>
            <p:cNvSpPr/>
            <p:nvPr/>
          </p:nvSpPr>
          <p:spPr>
            <a:xfrm>
              <a:off x="11636098" y="13905"/>
              <a:ext cx="537028" cy="527079"/>
            </a:xfrm>
            <a:prstGeom prst="rect">
              <a:avLst/>
            </a:prstGeom>
            <a:solidFill>
              <a:srgbClr val="3A3A7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351"/>
                <a:buFont typeface="Arial"/>
                <a:buNone/>
              </a:pPr>
              <a:endParaRPr sz="1351" b="0" i="0" u="none" strike="noStrike" cap="none">
                <a:solidFill>
                  <a:schemeClr val="lt1"/>
                </a:solidFill>
                <a:latin typeface="Calibri"/>
                <a:ea typeface="Calibri"/>
                <a:cs typeface="Calibri"/>
                <a:sym typeface="Calibri"/>
              </a:endParaRPr>
            </a:p>
          </p:txBody>
        </p:sp>
      </p:grpSp>
      <p:sp>
        <p:nvSpPr>
          <p:cNvPr id="16" name="Google Shape;104;p1">
            <a:extLst>
              <a:ext uri="{FF2B5EF4-FFF2-40B4-BE49-F238E27FC236}">
                <a16:creationId xmlns:a16="http://schemas.microsoft.com/office/drawing/2014/main" id="{C323D64D-BE3D-E115-33E9-192C329B4C2B}"/>
              </a:ext>
            </a:extLst>
          </p:cNvPr>
          <p:cNvSpPr/>
          <p:nvPr/>
        </p:nvSpPr>
        <p:spPr>
          <a:xfrm>
            <a:off x="2904067" y="3856219"/>
            <a:ext cx="6096000" cy="6462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dirty="0">
                <a:solidFill>
                  <a:schemeClr val="dk1"/>
                </a:solidFill>
                <a:latin typeface="Montserrat Medium"/>
                <a:ea typeface="Montserrat Medium"/>
                <a:cs typeface="Montserrat Medium"/>
                <a:sym typeface="Montserrat Medium"/>
              </a:rPr>
              <a:t>Department of Electrical Electronics and Communication Engineering</a:t>
            </a:r>
            <a:endParaRPr sz="1800" b="1" i="0" u="none" strike="noStrike" cap="none" dirty="0">
              <a:solidFill>
                <a:schemeClr val="dk1"/>
              </a:solidFill>
              <a:latin typeface="Arial"/>
              <a:ea typeface="Arial"/>
              <a:cs typeface="Arial"/>
              <a:sym typeface="Arial"/>
            </a:endParaRPr>
          </a:p>
        </p:txBody>
      </p:sp>
      <p:sp>
        <p:nvSpPr>
          <p:cNvPr id="17" name="Google Shape;105;p1">
            <a:extLst>
              <a:ext uri="{FF2B5EF4-FFF2-40B4-BE49-F238E27FC236}">
                <a16:creationId xmlns:a16="http://schemas.microsoft.com/office/drawing/2014/main" id="{C9CF77E4-28A7-270F-8F1A-AFD4E8DCECCF}"/>
              </a:ext>
            </a:extLst>
          </p:cNvPr>
          <p:cNvSpPr/>
          <p:nvPr/>
        </p:nvSpPr>
        <p:spPr>
          <a:xfrm>
            <a:off x="9156700" y="5791918"/>
            <a:ext cx="2926946"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Arial"/>
              <a:ea typeface="Arial"/>
              <a:cs typeface="Arial"/>
              <a:sym typeface="Arial"/>
            </a:endParaRPr>
          </a:p>
        </p:txBody>
      </p:sp>
      <p:sp>
        <p:nvSpPr>
          <p:cNvPr id="19" name="Google Shape;111;p1">
            <a:extLst>
              <a:ext uri="{FF2B5EF4-FFF2-40B4-BE49-F238E27FC236}">
                <a16:creationId xmlns:a16="http://schemas.microsoft.com/office/drawing/2014/main" id="{037B6323-B919-404C-9A53-E2D1EEBBC29E}"/>
              </a:ext>
            </a:extLst>
          </p:cNvPr>
          <p:cNvSpPr/>
          <p:nvPr/>
        </p:nvSpPr>
        <p:spPr>
          <a:xfrm>
            <a:off x="133754" y="4504626"/>
            <a:ext cx="2926946" cy="1169511"/>
          </a:xfrm>
          <a:prstGeom prst="rect">
            <a:avLst/>
          </a:prstGeom>
          <a:noFill/>
          <a:ln>
            <a:noFill/>
          </a:ln>
        </p:spPr>
        <p:txBody>
          <a:bodyPr spcFirstLastPara="1" wrap="square" lIns="91425" tIns="45700" rIns="91425" bIns="45700" anchor="t" anchorCtr="0">
            <a:spAutoFit/>
          </a:bodyPr>
          <a:lstStyle/>
          <a:p>
            <a:pPr marL="0" marR="0" lvl="0" indent="0" rtl="0">
              <a:lnSpc>
                <a:spcPct val="100000"/>
              </a:lnSpc>
              <a:spcBef>
                <a:spcPts val="0"/>
              </a:spcBef>
              <a:spcAft>
                <a:spcPts val="0"/>
              </a:spcAft>
              <a:buClr>
                <a:srgbClr val="000000"/>
              </a:buClr>
              <a:buSzPts val="1400"/>
              <a:buFont typeface="Arial"/>
              <a:buNone/>
            </a:pPr>
            <a:r>
              <a:rPr lang="en-US" sz="1400" b="1" i="0" u="none" strike="noStrike" cap="none" dirty="0">
                <a:solidFill>
                  <a:schemeClr val="dk1"/>
                </a:solidFill>
                <a:latin typeface="Montserrat Medium"/>
                <a:ea typeface="Montserrat Medium"/>
                <a:cs typeface="Montserrat Medium"/>
                <a:sym typeface="Montserrat Medium"/>
              </a:rPr>
              <a:t>Project Team: </a:t>
            </a:r>
          </a:p>
          <a:p>
            <a:pPr marL="285750" marR="0" lvl="0" indent="-285750" rtl="0">
              <a:lnSpc>
                <a:spcPct val="100000"/>
              </a:lnSpc>
              <a:spcBef>
                <a:spcPts val="0"/>
              </a:spcBef>
              <a:spcAft>
                <a:spcPts val="0"/>
              </a:spcAft>
              <a:buClr>
                <a:srgbClr val="000000"/>
              </a:buClr>
              <a:buSzPts val="1400"/>
              <a:buFont typeface="Arial" panose="020B0604020202020204" pitchFamily="34" charset="0"/>
              <a:buChar char="•"/>
            </a:pPr>
            <a:r>
              <a:rPr lang="en-US" b="1" dirty="0" err="1">
                <a:solidFill>
                  <a:schemeClr val="dk1"/>
                </a:solidFill>
                <a:latin typeface="Montserrat Medium"/>
                <a:sym typeface="Montserrat Medium"/>
              </a:rPr>
              <a:t>Madicharla</a:t>
            </a:r>
            <a:r>
              <a:rPr lang="en-US" b="1" dirty="0">
                <a:solidFill>
                  <a:schemeClr val="dk1"/>
                </a:solidFill>
                <a:latin typeface="Montserrat Medium"/>
                <a:sym typeface="Montserrat Medium"/>
              </a:rPr>
              <a:t> Vishnu Teja</a:t>
            </a:r>
            <a:endParaRPr lang="en-US" sz="1400" b="1" i="0" u="none" strike="noStrike" cap="none" dirty="0">
              <a:solidFill>
                <a:schemeClr val="dk1"/>
              </a:solidFill>
              <a:latin typeface="Montserrat Medium"/>
              <a:ea typeface="Arial"/>
              <a:cs typeface="Arial"/>
              <a:sym typeface="Montserrat Medium"/>
            </a:endParaRPr>
          </a:p>
          <a:p>
            <a:pPr marL="285750" indent="-285750">
              <a:buSzPts val="1400"/>
              <a:buFont typeface="Arial" panose="020B0604020202020204" pitchFamily="34" charset="0"/>
              <a:buChar char="•"/>
            </a:pPr>
            <a:r>
              <a:rPr lang="en-US" b="1" dirty="0">
                <a:solidFill>
                  <a:schemeClr val="dk1"/>
                </a:solidFill>
                <a:latin typeface="Montserrat Medium"/>
                <a:sym typeface="Montserrat Medium"/>
              </a:rPr>
              <a:t>Harshit Ramesh Hundia</a:t>
            </a:r>
            <a:endParaRPr lang="en-US" sz="1400" b="1" i="0" u="none" strike="noStrike" cap="none" dirty="0">
              <a:solidFill>
                <a:schemeClr val="dk1"/>
              </a:solidFill>
              <a:latin typeface="Arial"/>
              <a:ea typeface="Arial"/>
              <a:cs typeface="Arial"/>
              <a:sym typeface="Arial"/>
            </a:endParaRPr>
          </a:p>
          <a:p>
            <a:pPr marL="285750" indent="-285750">
              <a:buSzPts val="1400"/>
              <a:buFont typeface="Arial" panose="020B0604020202020204" pitchFamily="34" charset="0"/>
              <a:buChar char="•"/>
            </a:pPr>
            <a:r>
              <a:rPr lang="en-US" b="1" dirty="0">
                <a:solidFill>
                  <a:schemeClr val="dk1"/>
                </a:solidFill>
                <a:latin typeface="Montserrat Medium"/>
                <a:sym typeface="Montserrat Medium"/>
              </a:rPr>
              <a:t>Darshan . H</a:t>
            </a:r>
          </a:p>
          <a:p>
            <a:pPr marL="285750" marR="0" lvl="0" indent="-285750" algn="ctr" rtl="0">
              <a:lnSpc>
                <a:spcPct val="100000"/>
              </a:lnSpc>
              <a:spcBef>
                <a:spcPts val="0"/>
              </a:spcBef>
              <a:spcAft>
                <a:spcPts val="0"/>
              </a:spcAft>
              <a:buClr>
                <a:srgbClr val="000000"/>
              </a:buClr>
              <a:buSzPts val="1400"/>
              <a:buFont typeface="Arial" panose="020B0604020202020204" pitchFamily="34" charset="0"/>
              <a:buChar char="•"/>
            </a:pPr>
            <a:endParaRPr sz="1400" b="1" i="0" u="none" strike="noStrike" cap="none" dirty="0">
              <a:solidFill>
                <a:schemeClr val="dk1"/>
              </a:solidFill>
              <a:latin typeface="Arial"/>
              <a:ea typeface="Arial"/>
              <a:cs typeface="Arial"/>
              <a:sym typeface="Arial"/>
            </a:endParaRPr>
          </a:p>
        </p:txBody>
      </p:sp>
      <p:sp>
        <p:nvSpPr>
          <p:cNvPr id="20" name="Google Shape;111;p1">
            <a:extLst>
              <a:ext uri="{FF2B5EF4-FFF2-40B4-BE49-F238E27FC236}">
                <a16:creationId xmlns:a16="http://schemas.microsoft.com/office/drawing/2014/main" id="{663FF154-6303-06EF-099B-905F19C206B2}"/>
              </a:ext>
            </a:extLst>
          </p:cNvPr>
          <p:cNvSpPr/>
          <p:nvPr/>
        </p:nvSpPr>
        <p:spPr>
          <a:xfrm>
            <a:off x="9322056" y="5040405"/>
            <a:ext cx="2926946" cy="954067"/>
          </a:xfrm>
          <a:prstGeom prst="rect">
            <a:avLst/>
          </a:prstGeom>
          <a:noFill/>
          <a:ln>
            <a:noFill/>
          </a:ln>
        </p:spPr>
        <p:txBody>
          <a:bodyPr spcFirstLastPara="1" wrap="square" lIns="91425" tIns="45700" rIns="91425" bIns="45700" anchor="t" anchorCtr="0">
            <a:spAutoFit/>
          </a:bodyPr>
          <a:lstStyle/>
          <a:p>
            <a:pPr marL="0" marR="0" lvl="0" indent="0" rtl="0">
              <a:lnSpc>
                <a:spcPct val="100000"/>
              </a:lnSpc>
              <a:spcBef>
                <a:spcPts val="0"/>
              </a:spcBef>
              <a:spcAft>
                <a:spcPts val="0"/>
              </a:spcAft>
              <a:buClr>
                <a:srgbClr val="000000"/>
              </a:buClr>
              <a:buSzPts val="1400"/>
              <a:buFont typeface="Arial"/>
              <a:buNone/>
            </a:pPr>
            <a:r>
              <a:rPr lang="en-US" sz="1400" b="1" i="0" u="none" strike="noStrike" cap="none" dirty="0">
                <a:solidFill>
                  <a:schemeClr val="dk1"/>
                </a:solidFill>
                <a:latin typeface="Montserrat Medium"/>
                <a:ea typeface="Montserrat Medium"/>
                <a:cs typeface="Montserrat Medium"/>
                <a:sym typeface="Montserrat Medium"/>
              </a:rPr>
              <a:t>Project Mentor: </a:t>
            </a:r>
          </a:p>
          <a:p>
            <a:pPr marR="0" lvl="0" algn="ctr" rtl="0">
              <a:lnSpc>
                <a:spcPct val="100000"/>
              </a:lnSpc>
              <a:spcBef>
                <a:spcPts val="0"/>
              </a:spcBef>
              <a:spcAft>
                <a:spcPts val="0"/>
              </a:spcAft>
              <a:buClr>
                <a:srgbClr val="000000"/>
              </a:buClr>
              <a:buSzPts val="1400"/>
            </a:pPr>
            <a:r>
              <a:rPr lang="en-US" b="1" dirty="0">
                <a:solidFill>
                  <a:schemeClr val="dk1"/>
                </a:solidFill>
                <a:latin typeface="Montserrat Medium"/>
                <a:sym typeface="Montserrat Medium"/>
              </a:rPr>
              <a:t>Dr. Ajit Kumar</a:t>
            </a:r>
            <a:r>
              <a:rPr lang="en-US" sz="1400" b="1" i="0" u="none" strike="noStrike" cap="none" dirty="0">
                <a:solidFill>
                  <a:schemeClr val="dk1"/>
                </a:solidFill>
                <a:latin typeface="Montserrat Medium"/>
                <a:ea typeface="Arial"/>
                <a:cs typeface="Arial"/>
                <a:sym typeface="Montserrat Medium"/>
              </a:rPr>
              <a:t> </a:t>
            </a:r>
          </a:p>
          <a:p>
            <a:pPr marL="0" marR="0" lvl="0" indent="0" rtl="0">
              <a:lnSpc>
                <a:spcPct val="100000"/>
              </a:lnSpc>
              <a:spcBef>
                <a:spcPts val="0"/>
              </a:spcBef>
              <a:spcAft>
                <a:spcPts val="0"/>
              </a:spcAft>
              <a:buClr>
                <a:srgbClr val="000000"/>
              </a:buClr>
              <a:buSzPts val="1400"/>
              <a:buFont typeface="Arial"/>
              <a:buNone/>
            </a:pPr>
            <a:r>
              <a:rPr lang="en-US" sz="1400" b="1" i="0" u="none" strike="noStrike" cap="none" dirty="0">
                <a:solidFill>
                  <a:schemeClr val="dk1"/>
                </a:solidFill>
                <a:latin typeface="Montserrat Medium"/>
                <a:ea typeface="Montserrat Medium"/>
                <a:cs typeface="Montserrat Medium"/>
                <a:sym typeface="Montserrat Medium"/>
              </a:rPr>
              <a:t>Project In-charge: </a:t>
            </a:r>
          </a:p>
          <a:p>
            <a:pPr marR="0" lvl="0" algn="ctr" rtl="0">
              <a:lnSpc>
                <a:spcPct val="100000"/>
              </a:lnSpc>
              <a:spcBef>
                <a:spcPts val="0"/>
              </a:spcBef>
              <a:spcAft>
                <a:spcPts val="0"/>
              </a:spcAft>
              <a:buClr>
                <a:srgbClr val="000000"/>
              </a:buClr>
              <a:buSzPts val="1400"/>
            </a:pPr>
            <a:r>
              <a:rPr lang="en-US" b="1" dirty="0">
                <a:solidFill>
                  <a:schemeClr val="dk1"/>
                </a:solidFill>
                <a:latin typeface="Montserrat Medium"/>
                <a:sym typeface="Montserrat Medium"/>
              </a:rPr>
              <a:t>Dr. Jaya Prakash Sahoo</a:t>
            </a:r>
            <a:endParaRPr lang="en-US" sz="1400" b="1" i="0" u="none" strike="noStrike" cap="none" dirty="0">
              <a:solidFill>
                <a:schemeClr val="dk1"/>
              </a:solidFill>
              <a:latin typeface="Arial"/>
              <a:ea typeface="Arial"/>
              <a:cs typeface="Arial"/>
              <a:sym typeface="Arial"/>
            </a:endParaRPr>
          </a:p>
        </p:txBody>
      </p:sp>
      <p:pic>
        <p:nvPicPr>
          <p:cNvPr id="21" name="Google Shape;67;p1">
            <a:extLst>
              <a:ext uri="{FF2B5EF4-FFF2-40B4-BE49-F238E27FC236}">
                <a16:creationId xmlns:a16="http://schemas.microsoft.com/office/drawing/2014/main" id="{14559E83-6276-698C-A2DC-9D1D6C0E44CD}"/>
              </a:ext>
            </a:extLst>
          </p:cNvPr>
          <p:cNvPicPr preferRelativeResize="0"/>
          <p:nvPr/>
        </p:nvPicPr>
        <p:blipFill rotWithShape="1">
          <a:blip r:embed="rId4">
            <a:alphaModFix/>
          </a:blip>
          <a:srcRect/>
          <a:stretch/>
        </p:blipFill>
        <p:spPr>
          <a:xfrm>
            <a:off x="4601352" y="1778687"/>
            <a:ext cx="2674631" cy="1245671"/>
          </a:xfrm>
          <a:prstGeom prst="rect">
            <a:avLst/>
          </a:prstGeom>
          <a:noFill/>
          <a:ln>
            <a:noFill/>
          </a:ln>
        </p:spPr>
      </p:pic>
      <p:sp>
        <p:nvSpPr>
          <p:cNvPr id="22" name="Google Shape;88;p1">
            <a:extLst>
              <a:ext uri="{FF2B5EF4-FFF2-40B4-BE49-F238E27FC236}">
                <a16:creationId xmlns:a16="http://schemas.microsoft.com/office/drawing/2014/main" id="{8CF9D16E-FF17-2A50-8767-3A06BCEC2AD9}"/>
              </a:ext>
            </a:extLst>
          </p:cNvPr>
          <p:cNvSpPr txBox="1"/>
          <p:nvPr/>
        </p:nvSpPr>
        <p:spPr>
          <a:xfrm>
            <a:off x="1457135" y="236360"/>
            <a:ext cx="8963064" cy="95406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1" dirty="0">
                <a:solidFill>
                  <a:srgbClr val="007069"/>
                </a:solidFill>
                <a:latin typeface="Open Sans"/>
                <a:ea typeface="Open Sans"/>
                <a:cs typeface="Open Sans"/>
                <a:sym typeface="Open Sans"/>
              </a:rPr>
              <a:t>Design of an FPGA based patient history tracking, monitoring and Diagnostic support system</a:t>
            </a:r>
            <a:endParaRPr lang="en-US" sz="2800" dirty="0"/>
          </a:p>
        </p:txBody>
      </p:sp>
      <p:sp>
        <p:nvSpPr>
          <p:cNvPr id="23" name="Google Shape;88;p1">
            <a:extLst>
              <a:ext uri="{FF2B5EF4-FFF2-40B4-BE49-F238E27FC236}">
                <a16:creationId xmlns:a16="http://schemas.microsoft.com/office/drawing/2014/main" id="{D8F66EB9-9CBE-8ACD-E616-93A5AE55CF5C}"/>
              </a:ext>
            </a:extLst>
          </p:cNvPr>
          <p:cNvSpPr txBox="1"/>
          <p:nvPr/>
        </p:nvSpPr>
        <p:spPr>
          <a:xfrm>
            <a:off x="10131321" y="111642"/>
            <a:ext cx="2245360" cy="40006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b="1" i="0" u="none" strike="noStrike" cap="none" dirty="0">
                <a:solidFill>
                  <a:srgbClr val="007069"/>
                </a:solidFill>
                <a:latin typeface="Open Sans"/>
                <a:ea typeface="Open Sans"/>
                <a:cs typeface="Open Sans"/>
                <a:sym typeface="Open Sans"/>
              </a:rPr>
              <a:t>Review-2</a:t>
            </a:r>
            <a:endParaRPr lang="en-US" sz="2000" i="1" dirty="0"/>
          </a:p>
        </p:txBody>
      </p:sp>
      <p:sp>
        <p:nvSpPr>
          <p:cNvPr id="25" name="Google Shape;120;p76">
            <a:extLst>
              <a:ext uri="{FF2B5EF4-FFF2-40B4-BE49-F238E27FC236}">
                <a16:creationId xmlns:a16="http://schemas.microsoft.com/office/drawing/2014/main" id="{38A183C7-510B-0906-FECD-64BA2B628A0E}"/>
              </a:ext>
            </a:extLst>
          </p:cNvPr>
          <p:cNvSpPr/>
          <p:nvPr/>
        </p:nvSpPr>
        <p:spPr>
          <a:xfrm>
            <a:off x="133753" y="2965411"/>
            <a:ext cx="2432050" cy="818907"/>
          </a:xfrm>
          <a:prstGeom prst="roundRect">
            <a:avLst>
              <a:gd name="adj" fmla="val 16667"/>
            </a:avLst>
          </a:prstGeom>
          <a:solidFill>
            <a:srgbClr val="FFC000"/>
          </a:solidFill>
          <a:ln w="25400" cap="flat" cmpd="sng">
            <a:solidFill>
              <a:schemeClr val="accent2">
                <a:lumMod val="50000"/>
              </a:schemeClr>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sz="1800" b="1" i="0" u="none" strike="noStrike" cap="none" dirty="0">
                <a:solidFill>
                  <a:schemeClr val="lt1"/>
                </a:solidFill>
                <a:latin typeface="Verdana"/>
                <a:ea typeface="Verdana"/>
                <a:cs typeface="Verdana"/>
                <a:sym typeface="Verdana"/>
              </a:rPr>
              <a:t>AY 2025-26 </a:t>
            </a:r>
            <a:endParaRPr sz="900" b="1" i="0" u="none" strike="noStrike" cap="none" dirty="0">
              <a:solidFill>
                <a:srgbClr val="000000"/>
              </a:solidFill>
              <a:latin typeface="Arial"/>
              <a:ea typeface="Arial"/>
              <a:cs typeface="Arial"/>
              <a:sym typeface="Arial"/>
            </a:endParaRPr>
          </a:p>
        </p:txBody>
      </p:sp>
      <p:sp>
        <p:nvSpPr>
          <p:cNvPr id="26" name="Google Shape;120;p76">
            <a:extLst>
              <a:ext uri="{FF2B5EF4-FFF2-40B4-BE49-F238E27FC236}">
                <a16:creationId xmlns:a16="http://schemas.microsoft.com/office/drawing/2014/main" id="{B3C9655A-2680-CBD4-341A-460C55A63157}"/>
              </a:ext>
            </a:extLst>
          </p:cNvPr>
          <p:cNvSpPr/>
          <p:nvPr/>
        </p:nvSpPr>
        <p:spPr>
          <a:xfrm>
            <a:off x="9287933" y="2965412"/>
            <a:ext cx="2770314" cy="818907"/>
          </a:xfrm>
          <a:prstGeom prst="roundRect">
            <a:avLst>
              <a:gd name="adj" fmla="val 16667"/>
            </a:avLst>
          </a:prstGeom>
          <a:solidFill>
            <a:schemeClr val="accent1">
              <a:lumMod val="75000"/>
            </a:schemeClr>
          </a:solidFill>
          <a:ln w="25400" cap="flat" cmpd="sng">
            <a:solidFill>
              <a:schemeClr val="accent2">
                <a:lumMod val="50000"/>
              </a:schemeClr>
            </a:solidFill>
            <a:prstDash val="solid"/>
            <a:round/>
            <a:headEnd type="none" w="sm" len="sm"/>
            <a:tailEnd type="none" w="sm" len="sm"/>
          </a:ln>
        </p:spPr>
        <p:txBody>
          <a:bodyPr spcFirstLastPara="1" wrap="square" lIns="91425" tIns="45700" rIns="91425" bIns="45700" anchor="ctr" anchorCtr="0">
            <a:noAutofit/>
          </a:bodyPr>
          <a:lstStyle/>
          <a:p>
            <a:pPr lvl="0" algn="ctr">
              <a:buSzPts val="3600"/>
            </a:pPr>
            <a:r>
              <a:rPr lang="en-US" sz="1800" b="1" i="0" u="none" strike="noStrike" cap="none" dirty="0">
                <a:solidFill>
                  <a:schemeClr val="lt1"/>
                </a:solidFill>
                <a:latin typeface="Verdana"/>
                <a:ea typeface="Verdana"/>
                <a:cs typeface="Verdana"/>
                <a:sym typeface="Verdana"/>
              </a:rPr>
              <a:t>Capstone Project – </a:t>
            </a:r>
            <a:r>
              <a:rPr lang="en-US" sz="1800" b="1" dirty="0">
                <a:solidFill>
                  <a:schemeClr val="lt1"/>
                </a:solidFill>
                <a:latin typeface="Verdana"/>
                <a:ea typeface="Verdana"/>
                <a:cs typeface="Verdana"/>
                <a:sym typeface="Verdana"/>
              </a:rPr>
              <a:t>Introduction (PROJ2999)</a:t>
            </a:r>
            <a:endParaRPr lang="en-US" sz="1800" b="1" i="0" u="none" strike="noStrike" cap="none" dirty="0">
              <a:solidFill>
                <a:schemeClr val="lt1"/>
              </a:solidFill>
              <a:latin typeface="Verdana"/>
              <a:ea typeface="Verdana"/>
              <a:cs typeface="Verdana"/>
              <a:sym typeface="Verdana"/>
            </a:endParaRPr>
          </a:p>
        </p:txBody>
      </p:sp>
    </p:spTree>
    <p:extLst>
      <p:ext uri="{BB962C8B-B14F-4D97-AF65-F5344CB8AC3E}">
        <p14:creationId xmlns:p14="http://schemas.microsoft.com/office/powerpoint/2010/main" val="2901330264"/>
      </p:ext>
    </p:extLst>
  </p:cSld>
  <p:clrMapOvr>
    <a:masterClrMapping/>
  </p:clrMapOvr>
  <mc:AlternateContent xmlns:mc="http://schemas.openxmlformats.org/markup-compatibility/2006" xmlns:p14="http://schemas.microsoft.com/office/powerpoint/2010/main">
    <mc:Choice Requires="p14">
      <p:transition spd="slow" p14:dur="2000" advTm="15272"/>
    </mc:Choice>
    <mc:Fallback xmlns="">
      <p:transition spd="slow" advTm="1527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0">
          <a:extLst>
            <a:ext uri="{FF2B5EF4-FFF2-40B4-BE49-F238E27FC236}">
              <a16:creationId xmlns:a16="http://schemas.microsoft.com/office/drawing/2014/main" id="{016D5E0D-E878-63B4-A1A9-208E58ED601E}"/>
            </a:ext>
          </a:extLst>
        </p:cNvPr>
        <p:cNvGrpSpPr/>
        <p:nvPr/>
      </p:nvGrpSpPr>
      <p:grpSpPr>
        <a:xfrm>
          <a:off x="0" y="0"/>
          <a:ext cx="0" cy="0"/>
          <a:chOff x="0" y="0"/>
          <a:chExt cx="0" cy="0"/>
        </a:xfrm>
      </p:grpSpPr>
      <p:sp>
        <p:nvSpPr>
          <p:cNvPr id="8" name="Google Shape;125;p3">
            <a:extLst>
              <a:ext uri="{FF2B5EF4-FFF2-40B4-BE49-F238E27FC236}">
                <a16:creationId xmlns:a16="http://schemas.microsoft.com/office/drawing/2014/main" id="{1EF97A4B-E82E-712F-CA13-78D59E17A26B}"/>
              </a:ext>
            </a:extLst>
          </p:cNvPr>
          <p:cNvSpPr txBox="1"/>
          <p:nvPr/>
        </p:nvSpPr>
        <p:spPr>
          <a:xfrm>
            <a:off x="1000124" y="232275"/>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i="0" u="none" strike="noStrike" cap="none" dirty="0">
                <a:solidFill>
                  <a:srgbClr val="000000"/>
                </a:solidFill>
                <a:latin typeface="Montserrat"/>
                <a:ea typeface="Montserrat"/>
                <a:cs typeface="Montserrat"/>
                <a:sym typeface="Montserrat"/>
              </a:rPr>
              <a:t>Objective and Goals</a:t>
            </a:r>
            <a:endParaRPr dirty="0"/>
          </a:p>
        </p:txBody>
      </p:sp>
      <p:sp>
        <p:nvSpPr>
          <p:cNvPr id="3" name="Google Shape;120;p76">
            <a:extLst>
              <a:ext uri="{FF2B5EF4-FFF2-40B4-BE49-F238E27FC236}">
                <a16:creationId xmlns:a16="http://schemas.microsoft.com/office/drawing/2014/main" id="{CA08A1E2-29B3-F3D5-48A9-5D1EA6629717}"/>
              </a:ext>
            </a:extLst>
          </p:cNvPr>
          <p:cNvSpPr/>
          <p:nvPr/>
        </p:nvSpPr>
        <p:spPr>
          <a:xfrm>
            <a:off x="550606" y="765905"/>
            <a:ext cx="2114338" cy="302183"/>
          </a:xfrm>
          <a:prstGeom prst="roundRect">
            <a:avLst>
              <a:gd name="adj" fmla="val 16667"/>
            </a:avLst>
          </a:prstGeom>
          <a:solidFill>
            <a:schemeClr val="tx2">
              <a:lumMod val="10000"/>
            </a:schemeClr>
          </a:solidFill>
          <a:ln w="25400"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sz="2000" b="1" i="0" u="none" strike="noStrike" cap="none" dirty="0">
                <a:solidFill>
                  <a:schemeClr val="lt1"/>
                </a:solidFill>
                <a:latin typeface="Verdana"/>
                <a:ea typeface="Verdana"/>
                <a:cs typeface="Verdana"/>
                <a:sym typeface="Verdana"/>
              </a:rPr>
              <a:t>Objective </a:t>
            </a:r>
            <a:endParaRPr sz="1000" b="1" i="0" u="none" strike="noStrike" cap="none" dirty="0">
              <a:solidFill>
                <a:srgbClr val="000000"/>
              </a:solidFill>
              <a:latin typeface="Arial"/>
              <a:ea typeface="Arial"/>
              <a:cs typeface="Arial"/>
              <a:sym typeface="Arial"/>
            </a:endParaRPr>
          </a:p>
        </p:txBody>
      </p:sp>
      <p:sp>
        <p:nvSpPr>
          <p:cNvPr id="5" name="Google Shape;120;p76">
            <a:extLst>
              <a:ext uri="{FF2B5EF4-FFF2-40B4-BE49-F238E27FC236}">
                <a16:creationId xmlns:a16="http://schemas.microsoft.com/office/drawing/2014/main" id="{17BF0AA4-CB04-F194-9E07-5F430F49129E}"/>
              </a:ext>
            </a:extLst>
          </p:cNvPr>
          <p:cNvSpPr/>
          <p:nvPr/>
        </p:nvSpPr>
        <p:spPr>
          <a:xfrm>
            <a:off x="550606" y="3429000"/>
            <a:ext cx="2114338" cy="302183"/>
          </a:xfrm>
          <a:prstGeom prst="roundRect">
            <a:avLst>
              <a:gd name="adj" fmla="val 16667"/>
            </a:avLst>
          </a:prstGeom>
          <a:solidFill>
            <a:schemeClr val="tx2">
              <a:lumMod val="10000"/>
            </a:schemeClr>
          </a:solidFill>
          <a:ln w="25400"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sz="2000" b="1" i="0" u="none" strike="noStrike" cap="none" dirty="0">
                <a:solidFill>
                  <a:schemeClr val="lt1"/>
                </a:solidFill>
                <a:latin typeface="Verdana"/>
                <a:ea typeface="Verdana"/>
                <a:cs typeface="Verdana"/>
                <a:sym typeface="Verdana"/>
              </a:rPr>
              <a:t>Goals</a:t>
            </a:r>
            <a:endParaRPr sz="1000" b="1" i="0" u="none" strike="noStrike" cap="none" dirty="0">
              <a:solidFill>
                <a:srgbClr val="000000"/>
              </a:solidFill>
              <a:latin typeface="Arial"/>
              <a:ea typeface="Arial"/>
              <a:cs typeface="Arial"/>
              <a:sym typeface="Arial"/>
            </a:endParaRPr>
          </a:p>
        </p:txBody>
      </p:sp>
      <p:sp>
        <p:nvSpPr>
          <p:cNvPr id="33" name="TextBox 32">
            <a:extLst>
              <a:ext uri="{FF2B5EF4-FFF2-40B4-BE49-F238E27FC236}">
                <a16:creationId xmlns:a16="http://schemas.microsoft.com/office/drawing/2014/main" id="{A1111477-E886-23E8-64BD-4CADAD76379A}"/>
              </a:ext>
            </a:extLst>
          </p:cNvPr>
          <p:cNvSpPr txBox="1"/>
          <p:nvPr/>
        </p:nvSpPr>
        <p:spPr>
          <a:xfrm>
            <a:off x="1000124" y="1268361"/>
            <a:ext cx="9943179" cy="1600438"/>
          </a:xfrm>
          <a:prstGeom prst="rect">
            <a:avLst/>
          </a:prstGeom>
          <a:noFill/>
        </p:spPr>
        <p:txBody>
          <a:bodyPr wrap="square" rtlCol="0">
            <a:spAutoFit/>
          </a:bodyPr>
          <a:lstStyle/>
          <a:p>
            <a:r>
              <a:rPr lang="en-US" dirty="0"/>
              <a:t>The objective of this project is to design and implement a real-time FPGA-based system that efficiently tracks and manages patient medical histories, including surgeries, tests, and treatments. The system aims to provide continuous monitoring and diagnostic support by integrating medical data with rapid hardware processing capabilities. Additionally, it plans to incorporate external sensor interfaces to detect vital signs such as temperature and heart rate, continuously update patient records, and generate alerts for any abnormalities to enhance timely medical intervention. This project combines high-speed data handling with healthcare management to improve accuracy, accessibility, and responsiveness in patient monitoring and diagnostics.</a:t>
            </a:r>
            <a:endParaRPr lang="en-IN" dirty="0">
              <a:latin typeface="Verdana" panose="020B0604030504040204" pitchFamily="34" charset="0"/>
              <a:ea typeface="Verdana" panose="020B0604030504040204" pitchFamily="34" charset="0"/>
            </a:endParaRPr>
          </a:p>
        </p:txBody>
      </p:sp>
      <p:sp>
        <p:nvSpPr>
          <p:cNvPr id="34" name="TextBox 33">
            <a:extLst>
              <a:ext uri="{FF2B5EF4-FFF2-40B4-BE49-F238E27FC236}">
                <a16:creationId xmlns:a16="http://schemas.microsoft.com/office/drawing/2014/main" id="{4A9AEFFB-1A20-899A-F8E0-29DEDB267EF4}"/>
              </a:ext>
            </a:extLst>
          </p:cNvPr>
          <p:cNvSpPr txBox="1"/>
          <p:nvPr/>
        </p:nvSpPr>
        <p:spPr>
          <a:xfrm>
            <a:off x="1000124" y="3815219"/>
            <a:ext cx="9943179" cy="2677656"/>
          </a:xfrm>
          <a:prstGeom prst="rect">
            <a:avLst/>
          </a:prstGeom>
          <a:noFill/>
        </p:spPr>
        <p:txBody>
          <a:bodyPr wrap="square" rtlCol="0">
            <a:spAutoFit/>
          </a:bodyPr>
          <a:lstStyle/>
          <a:p>
            <a:r>
              <a:rPr lang="en-IN" dirty="0">
                <a:latin typeface="Verdana" panose="020B0604030504040204" pitchFamily="34" charset="0"/>
                <a:ea typeface="Verdana" panose="020B0604030504040204" pitchFamily="34" charset="0"/>
              </a:rPr>
              <a:t>Main Goals </a:t>
            </a:r>
          </a:p>
          <a:p>
            <a:pPr marL="285750" indent="-285750">
              <a:buFont typeface="Arial" panose="020B0604020202020204" pitchFamily="34" charset="0"/>
              <a:buChar char="•"/>
            </a:pPr>
            <a:r>
              <a:rPr lang="en-US" dirty="0"/>
              <a:t>Design and develop an FPGA-based system for tracking patient medical history.</a:t>
            </a:r>
            <a:endParaRPr lang="en-IN"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dirty="0"/>
              <a:t>Store and update records of patient procedures, operations, and test results accurately.</a:t>
            </a:r>
          </a:p>
          <a:p>
            <a:pPr marL="285750" indent="-285750">
              <a:buFont typeface="Arial" panose="020B0604020202020204" pitchFamily="34" charset="0"/>
              <a:buChar char="•"/>
            </a:pPr>
            <a:r>
              <a:rPr lang="en-US" dirty="0"/>
              <a:t>Enable real-time monitoring and retrieval of patient historical data.</a:t>
            </a:r>
          </a:p>
          <a:p>
            <a:pPr marL="285750" indent="-285750">
              <a:buFont typeface="Arial" panose="020B0604020202020204" pitchFamily="34" charset="0"/>
              <a:buChar char="•"/>
            </a:pPr>
            <a:r>
              <a:rPr lang="en-US" dirty="0"/>
              <a:t>Provide diagnostic support for healthcare professionals using fast hardware processing.</a:t>
            </a:r>
          </a:p>
          <a:p>
            <a:pPr marL="285750" indent="-285750">
              <a:buFont typeface="Arial" panose="020B0604020202020204" pitchFamily="34" charset="0"/>
              <a:buChar char="•"/>
            </a:pPr>
            <a:r>
              <a:rPr lang="en-US" dirty="0"/>
              <a:t>Ensure reliable, secure storage and communication of patient information</a:t>
            </a:r>
          </a:p>
          <a:p>
            <a:endParaRPr lang="en-IN" dirty="0">
              <a:latin typeface="Verdana" panose="020B0604030504040204" pitchFamily="34" charset="0"/>
              <a:ea typeface="Verdana" panose="020B0604030504040204" pitchFamily="34" charset="0"/>
            </a:endParaRPr>
          </a:p>
          <a:p>
            <a:r>
              <a:rPr lang="en-IN" dirty="0">
                <a:latin typeface="Verdana" panose="020B0604030504040204" pitchFamily="34" charset="0"/>
                <a:ea typeface="Verdana" panose="020B0604030504040204" pitchFamily="34" charset="0"/>
              </a:rPr>
              <a:t>Additional Goals </a:t>
            </a:r>
          </a:p>
          <a:p>
            <a:pPr marL="285750" indent="-285750">
              <a:buFont typeface="Arial" panose="020B0604020202020204" pitchFamily="34" charset="0"/>
              <a:buChar char="•"/>
            </a:pPr>
            <a:r>
              <a:rPr lang="en-IN" dirty="0"/>
              <a:t>Integrate external sensor circuits for automatic acquisition of vital signs (e.g., temperature, heart rate).</a:t>
            </a:r>
          </a:p>
          <a:p>
            <a:pPr marL="285750" indent="-285750">
              <a:buFont typeface="Arial" panose="020B0604020202020204" pitchFamily="34" charset="0"/>
              <a:buChar char="•"/>
            </a:pPr>
            <a:r>
              <a:rPr lang="en-IN" dirty="0"/>
              <a:t>Continuously update medical history with real-time physiological data.</a:t>
            </a:r>
          </a:p>
          <a:p>
            <a:pPr marL="285750" indent="-285750">
              <a:buFont typeface="Arial" panose="020B0604020202020204" pitchFamily="34" charset="0"/>
              <a:buChar char="•"/>
            </a:pPr>
            <a:r>
              <a:rPr lang="en-IN" dirty="0"/>
              <a:t>Implement an alert system to notify abnormalities for prompt clinical response.</a:t>
            </a:r>
          </a:p>
          <a:p>
            <a:endParaRPr lang="en-IN" dirty="0">
              <a:latin typeface="Verdana" panose="020B0604030504040204" pitchFamily="34" charset="0"/>
              <a:ea typeface="Verdana" panose="020B0604030504040204" pitchFamily="34" charset="0"/>
            </a:endParaRPr>
          </a:p>
        </p:txBody>
      </p:sp>
      <p:sp>
        <p:nvSpPr>
          <p:cNvPr id="35" name="Slide Number Placeholder 34">
            <a:extLst>
              <a:ext uri="{FF2B5EF4-FFF2-40B4-BE49-F238E27FC236}">
                <a16:creationId xmlns:a16="http://schemas.microsoft.com/office/drawing/2014/main" id="{FB294828-0F9E-F06A-05D5-7A5C37AB349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a:t>
            </a:fld>
            <a:endParaRPr lang="en-US" dirty="0"/>
          </a:p>
        </p:txBody>
      </p:sp>
    </p:spTree>
    <p:extLst>
      <p:ext uri="{BB962C8B-B14F-4D97-AF65-F5344CB8AC3E}">
        <p14:creationId xmlns:p14="http://schemas.microsoft.com/office/powerpoint/2010/main" val="1429641473"/>
      </p:ext>
    </p:extLst>
  </p:cSld>
  <p:clrMapOvr>
    <a:masterClrMapping/>
  </p:clrMapOvr>
  <mc:AlternateContent xmlns:mc="http://schemas.openxmlformats.org/markup-compatibility/2006" xmlns:p14="http://schemas.microsoft.com/office/powerpoint/2010/main">
    <mc:Choice Requires="p14">
      <p:transition spd="slow" p14:dur="2000" advTm="4235"/>
    </mc:Choice>
    <mc:Fallback xmlns="">
      <p:transition spd="slow" advTm="4235"/>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0">
          <a:extLst>
            <a:ext uri="{FF2B5EF4-FFF2-40B4-BE49-F238E27FC236}">
              <a16:creationId xmlns:a16="http://schemas.microsoft.com/office/drawing/2014/main" id="{5D277163-DDF4-8A7D-727E-9DC95265C51D}"/>
            </a:ext>
          </a:extLst>
        </p:cNvPr>
        <p:cNvGrpSpPr/>
        <p:nvPr/>
      </p:nvGrpSpPr>
      <p:grpSpPr>
        <a:xfrm>
          <a:off x="0" y="0"/>
          <a:ext cx="0" cy="0"/>
          <a:chOff x="0" y="0"/>
          <a:chExt cx="0" cy="0"/>
        </a:xfrm>
      </p:grpSpPr>
      <p:sp>
        <p:nvSpPr>
          <p:cNvPr id="8" name="Google Shape;125;p3">
            <a:extLst>
              <a:ext uri="{FF2B5EF4-FFF2-40B4-BE49-F238E27FC236}">
                <a16:creationId xmlns:a16="http://schemas.microsoft.com/office/drawing/2014/main" id="{C6ECFB60-4922-9557-3C5E-7FA842E8B16A}"/>
              </a:ext>
            </a:extLst>
          </p:cNvPr>
          <p:cNvSpPr txBox="1"/>
          <p:nvPr/>
        </p:nvSpPr>
        <p:spPr>
          <a:xfrm>
            <a:off x="325062" y="871058"/>
            <a:ext cx="11326761" cy="559083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lang="en-IN" sz="1600" b="1" dirty="0">
              <a:latin typeface="Verdana" panose="020B0604030504040204" pitchFamily="34" charset="0"/>
              <a:ea typeface="Verdana" panose="020B0604030504040204" pitchFamily="34" charset="0"/>
            </a:endParaRPr>
          </a:p>
        </p:txBody>
      </p:sp>
      <p:sp>
        <p:nvSpPr>
          <p:cNvPr id="3" name="Slide Number Placeholder 2">
            <a:extLst>
              <a:ext uri="{FF2B5EF4-FFF2-40B4-BE49-F238E27FC236}">
                <a16:creationId xmlns:a16="http://schemas.microsoft.com/office/drawing/2014/main" id="{83241AC6-CE23-A38B-BD86-17E34844F78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dirty="0"/>
          </a:p>
        </p:txBody>
      </p:sp>
      <p:sp>
        <p:nvSpPr>
          <p:cNvPr id="5" name="Google Shape;125;p3">
            <a:extLst>
              <a:ext uri="{FF2B5EF4-FFF2-40B4-BE49-F238E27FC236}">
                <a16:creationId xmlns:a16="http://schemas.microsoft.com/office/drawing/2014/main" id="{12977A3E-566F-814B-0D9C-37C0E1141171}"/>
              </a:ext>
            </a:extLst>
          </p:cNvPr>
          <p:cNvSpPr txBox="1"/>
          <p:nvPr/>
        </p:nvSpPr>
        <p:spPr>
          <a:xfrm>
            <a:off x="1000124" y="232275"/>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i="0" u="none" strike="noStrike" cap="none" dirty="0">
                <a:solidFill>
                  <a:srgbClr val="000000"/>
                </a:solidFill>
                <a:latin typeface="Montserrat"/>
                <a:ea typeface="Montserrat"/>
                <a:cs typeface="Montserrat"/>
                <a:sym typeface="Montserrat"/>
              </a:rPr>
              <a:t>Project Plan</a:t>
            </a:r>
            <a:endParaRPr dirty="0"/>
          </a:p>
        </p:txBody>
      </p:sp>
      <p:pic>
        <p:nvPicPr>
          <p:cNvPr id="4" name="Picture 3">
            <a:extLst>
              <a:ext uri="{FF2B5EF4-FFF2-40B4-BE49-F238E27FC236}">
                <a16:creationId xmlns:a16="http://schemas.microsoft.com/office/drawing/2014/main" id="{07691037-9249-A8BA-ED3A-DE44CDB5E373}"/>
              </a:ext>
            </a:extLst>
          </p:cNvPr>
          <p:cNvPicPr>
            <a:picLocks noChangeAspect="1"/>
          </p:cNvPicPr>
          <p:nvPr/>
        </p:nvPicPr>
        <p:blipFill>
          <a:blip r:embed="rId3"/>
          <a:stretch>
            <a:fillRect/>
          </a:stretch>
        </p:blipFill>
        <p:spPr>
          <a:xfrm>
            <a:off x="275613" y="1472184"/>
            <a:ext cx="11640774" cy="4059935"/>
          </a:xfrm>
          <a:prstGeom prst="rect">
            <a:avLst/>
          </a:prstGeom>
        </p:spPr>
      </p:pic>
    </p:spTree>
    <p:extLst>
      <p:ext uri="{BB962C8B-B14F-4D97-AF65-F5344CB8AC3E}">
        <p14:creationId xmlns:p14="http://schemas.microsoft.com/office/powerpoint/2010/main" val="3316315554"/>
      </p:ext>
    </p:extLst>
  </p:cSld>
  <p:clrMapOvr>
    <a:masterClrMapping/>
  </p:clrMapOvr>
  <mc:AlternateContent xmlns:mc="http://schemas.openxmlformats.org/markup-compatibility/2006" xmlns:p14="http://schemas.microsoft.com/office/powerpoint/2010/main">
    <mc:Choice Requires="p14">
      <p:transition spd="slow" p14:dur="2000" advTm="1305"/>
    </mc:Choice>
    <mc:Fallback xmlns="">
      <p:transition spd="slow" advTm="1305"/>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EAB61C2-B595-6D36-CB78-3791DED7225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4</a:t>
            </a:fld>
            <a:endParaRPr lang="en-US" dirty="0"/>
          </a:p>
        </p:txBody>
      </p:sp>
      <p:sp>
        <p:nvSpPr>
          <p:cNvPr id="4" name="Google Shape;125;p3">
            <a:extLst>
              <a:ext uri="{FF2B5EF4-FFF2-40B4-BE49-F238E27FC236}">
                <a16:creationId xmlns:a16="http://schemas.microsoft.com/office/drawing/2014/main" id="{050F573B-21F3-B526-5212-5E481ED19CDC}"/>
              </a:ext>
            </a:extLst>
          </p:cNvPr>
          <p:cNvSpPr txBox="1"/>
          <p:nvPr/>
        </p:nvSpPr>
        <p:spPr>
          <a:xfrm>
            <a:off x="1000124" y="97108"/>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dirty="0">
                <a:latin typeface="Montserrat"/>
                <a:sym typeface="Montserrat"/>
              </a:rPr>
              <a:t>Literature Survey</a:t>
            </a:r>
            <a:endParaRPr dirty="0"/>
          </a:p>
        </p:txBody>
      </p:sp>
      <p:sp>
        <p:nvSpPr>
          <p:cNvPr id="5" name="Google Shape;125;p3">
            <a:extLst>
              <a:ext uri="{FF2B5EF4-FFF2-40B4-BE49-F238E27FC236}">
                <a16:creationId xmlns:a16="http://schemas.microsoft.com/office/drawing/2014/main" id="{189FAE14-3F2D-9B3A-FA7E-862D36BC1477}"/>
              </a:ext>
            </a:extLst>
          </p:cNvPr>
          <p:cNvSpPr txBox="1"/>
          <p:nvPr/>
        </p:nvSpPr>
        <p:spPr>
          <a:xfrm>
            <a:off x="432619" y="489871"/>
            <a:ext cx="11326761"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dirty="0">
                <a:latin typeface="Verdana" panose="020B0604030504040204" pitchFamily="34" charset="0"/>
                <a:ea typeface="Verdana" panose="020B0604030504040204" pitchFamily="34" charset="0"/>
              </a:rPr>
              <a:t>Key Publications and Resources</a:t>
            </a:r>
          </a:p>
          <a:p>
            <a:pPr marL="0" marR="0" lvl="0" indent="0" rtl="0">
              <a:lnSpc>
                <a:spcPct val="100000"/>
              </a:lnSpc>
              <a:spcBef>
                <a:spcPts val="0"/>
              </a:spcBef>
              <a:spcAft>
                <a:spcPts val="0"/>
              </a:spcAft>
              <a:buNone/>
            </a:pPr>
            <a:endParaRPr lang="en-IN" b="1" dirty="0">
              <a:latin typeface="Verdana" panose="020B0604030504040204" pitchFamily="34" charset="0"/>
              <a:ea typeface="Verdana" panose="020B0604030504040204" pitchFamily="34" charset="0"/>
            </a:endParaRPr>
          </a:p>
          <a:p>
            <a:r>
              <a:rPr lang="en-US" b="1" dirty="0"/>
              <a:t>1. Health Monitoring and Jaundice Detection System Using Verilog</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Nandana Murali, Rajesh Kannan </a:t>
            </a:r>
            <a:r>
              <a:rPr lang="en-IN" dirty="0" err="1">
                <a:latin typeface="Verdana" panose="020B0604030504040204" pitchFamily="34" charset="0"/>
                <a:ea typeface="Verdana" panose="020B0604030504040204" pitchFamily="34" charset="0"/>
              </a:rPr>
              <a:t>Megalingam</a:t>
            </a:r>
            <a:r>
              <a:rPr lang="en-IN" dirty="0">
                <a:latin typeface="Verdana" panose="020B0604030504040204" pitchFamily="34" charset="0"/>
                <a:ea typeface="Verdana" panose="020B0604030504040204" pitchFamily="34" charset="0"/>
              </a:rPr>
              <a:t>, </a:t>
            </a:r>
            <a:r>
              <a:rPr lang="en-IN" dirty="0" err="1">
                <a:latin typeface="Verdana" panose="020B0604030504040204" pitchFamily="34" charset="0"/>
                <a:ea typeface="Verdana" panose="020B0604030504040204" pitchFamily="34" charset="0"/>
              </a:rPr>
              <a:t>Chebrolu</a:t>
            </a:r>
            <a:r>
              <a:rPr lang="en-IN" dirty="0">
                <a:latin typeface="Verdana" panose="020B0604030504040204" pitchFamily="34" charset="0"/>
                <a:ea typeface="Verdana" panose="020B0604030504040204" pitchFamily="34" charset="0"/>
              </a:rPr>
              <a:t> Gowtham</a:t>
            </a:r>
          </a:p>
          <a:p>
            <a:pPr lvl="0"/>
            <a:r>
              <a:rPr lang="en-IN" b="1" dirty="0">
                <a:latin typeface="Verdana" panose="020B0604030504040204" pitchFamily="34" charset="0"/>
                <a:ea typeface="Verdana" panose="020B0604030504040204" pitchFamily="34" charset="0"/>
              </a:rPr>
              <a:t>Source: </a:t>
            </a:r>
            <a:r>
              <a:rPr lang="en-IN" dirty="0">
                <a:latin typeface="Verdana" panose="020B0604030504040204" pitchFamily="34" charset="0"/>
                <a:ea typeface="Verdana" panose="020B0604030504040204" pitchFamily="34" charset="0"/>
              </a:rPr>
              <a:t>IEEE Xplore</a:t>
            </a:r>
          </a:p>
          <a:p>
            <a:pPr lvl="0"/>
            <a:r>
              <a:rPr lang="en-IN" b="1" dirty="0">
                <a:latin typeface="Verdana" panose="020B0604030504040204" pitchFamily="34" charset="0"/>
                <a:ea typeface="Verdana" panose="020B0604030504040204" pitchFamily="34" charset="0"/>
              </a:rPr>
              <a:t>Key takeaways: </a:t>
            </a:r>
            <a:r>
              <a:rPr lang="en-US" dirty="0">
                <a:latin typeface="Verdana" panose="020B0604030504040204" pitchFamily="34" charset="0"/>
                <a:ea typeface="Verdana" panose="020B0604030504040204" pitchFamily="34" charset="0"/>
              </a:rPr>
              <a:t>The Verilog code implemented a health monitoring and jaundice detection system. The system outputs the abnormality in heart and blood pressure rates and also predicts the presence of Jaundice. If the abnormality in vitals is continuous for three counts, then an alert is generated</a:t>
            </a:r>
            <a:endParaRPr lang="en-US" b="1" dirty="0">
              <a:latin typeface="Verdana" panose="020B0604030504040204" pitchFamily="34" charset="0"/>
              <a:ea typeface="Verdana" panose="020B0604030504040204" pitchFamily="34" charset="0"/>
            </a:endParaRPr>
          </a:p>
          <a:p>
            <a:pPr marL="342900" indent="-342900">
              <a:buFont typeface="+mj-lt"/>
              <a:buAutoNum type="arabicPeriod"/>
            </a:pPr>
            <a:endParaRPr lang="en-US" b="1"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2. Design and Implementation of Smart Healthcare Monitoring System Using FPGA</a:t>
            </a:r>
            <a:endParaRPr lang="en-US" dirty="0">
              <a:latin typeface="Verdana" panose="020B0604030504040204" pitchFamily="34" charset="0"/>
              <a:ea typeface="Verdana" panose="020B0604030504040204" pitchFamily="34" charset="0"/>
            </a:endParaRP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Prem Kumar </a:t>
            </a:r>
            <a:r>
              <a:rPr lang="en-IN" dirty="0" err="1">
                <a:latin typeface="Verdana" panose="020B0604030504040204" pitchFamily="34" charset="0"/>
                <a:ea typeface="Verdana" panose="020B0604030504040204" pitchFamily="34" charset="0"/>
              </a:rPr>
              <a:t>Badiganti</a:t>
            </a:r>
            <a:r>
              <a:rPr lang="en-IN" dirty="0">
                <a:latin typeface="Verdana" panose="020B0604030504040204" pitchFamily="34" charset="0"/>
                <a:ea typeface="Verdana" panose="020B0604030504040204" pitchFamily="34" charset="0"/>
              </a:rPr>
              <a:t>, Sumanth </a:t>
            </a:r>
            <a:r>
              <a:rPr lang="en-IN" dirty="0" err="1">
                <a:latin typeface="Verdana" panose="020B0604030504040204" pitchFamily="34" charset="0"/>
                <a:ea typeface="Verdana" panose="020B0604030504040204" pitchFamily="34" charset="0"/>
              </a:rPr>
              <a:t>Peddirsi</a:t>
            </a:r>
            <a:r>
              <a:rPr lang="en-IN" dirty="0">
                <a:latin typeface="Verdana" panose="020B0604030504040204" pitchFamily="34" charset="0"/>
                <a:ea typeface="Verdana" panose="020B0604030504040204" pitchFamily="34" charset="0"/>
              </a:rPr>
              <a:t>, </a:t>
            </a:r>
            <a:r>
              <a:rPr lang="en-IN" dirty="0" err="1">
                <a:latin typeface="Verdana" panose="020B0604030504040204" pitchFamily="34" charset="0"/>
                <a:ea typeface="Verdana" panose="020B0604030504040204" pitchFamily="34" charset="0"/>
              </a:rPr>
              <a:t>Alla</a:t>
            </a:r>
            <a:r>
              <a:rPr lang="en-IN" dirty="0">
                <a:latin typeface="Verdana" panose="020B0604030504040204" pitchFamily="34" charset="0"/>
                <a:ea typeface="Verdana" panose="020B0604030504040204" pitchFamily="34" charset="0"/>
              </a:rPr>
              <a:t> Tirumala </a:t>
            </a:r>
            <a:r>
              <a:rPr lang="en-IN" dirty="0" err="1">
                <a:latin typeface="Verdana" panose="020B0604030504040204" pitchFamily="34" charset="0"/>
                <a:ea typeface="Verdana" panose="020B0604030504040204" pitchFamily="34" charset="0"/>
              </a:rPr>
              <a:t>Jagannadha</a:t>
            </a:r>
            <a:r>
              <a:rPr lang="en-IN" dirty="0">
                <a:latin typeface="Verdana" panose="020B0604030504040204" pitchFamily="34" charset="0"/>
                <a:ea typeface="Verdana" panose="020B0604030504040204" pitchFamily="34" charset="0"/>
              </a:rPr>
              <a:t> Rupesh, and Suman Lata Tripathi</a:t>
            </a:r>
          </a:p>
          <a:p>
            <a:pPr lvl="0"/>
            <a:r>
              <a:rPr lang="en-IN" b="1" dirty="0">
                <a:latin typeface="Verdana" panose="020B0604030504040204" pitchFamily="34" charset="0"/>
                <a:ea typeface="Verdana" panose="020B0604030504040204" pitchFamily="34" charset="0"/>
              </a:rPr>
              <a:t>Source : </a:t>
            </a:r>
            <a:r>
              <a:rPr lang="en-IN" dirty="0">
                <a:latin typeface="Verdana" panose="020B0604030504040204" pitchFamily="34" charset="0"/>
                <a:ea typeface="Verdana" panose="020B0604030504040204" pitchFamily="34" charset="0"/>
              </a:rPr>
              <a:t>Google scholar</a:t>
            </a:r>
          </a:p>
          <a:p>
            <a:pPr lvl="0"/>
            <a:r>
              <a:rPr lang="en-IN" b="1" dirty="0">
                <a:latin typeface="Verdana" panose="020B0604030504040204" pitchFamily="34" charset="0"/>
                <a:ea typeface="Verdana" panose="020B0604030504040204" pitchFamily="34" charset="0"/>
              </a:rPr>
              <a:t>Key takeaways: </a:t>
            </a:r>
            <a:r>
              <a:rPr lang="en-IN" dirty="0">
                <a:latin typeface="Verdana" panose="020B0604030504040204" pitchFamily="34" charset="0"/>
                <a:ea typeface="Verdana" panose="020B0604030504040204" pitchFamily="34" charset="0"/>
              </a:rPr>
              <a:t>Heart rate, temperature , BP and ECG are health parameters considered. </a:t>
            </a:r>
            <a:r>
              <a:rPr lang="en-US" dirty="0">
                <a:latin typeface="Verdana" panose="020B0604030504040204" pitchFamily="34" charset="0"/>
                <a:ea typeface="Verdana" panose="020B0604030504040204" pitchFamily="34" charset="0"/>
              </a:rPr>
              <a:t>The data is measured from the patient using specialized medical sensors which are to be interfaced with an FPGA board.</a:t>
            </a: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3. Design of Health Monitoring System using FPGA</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Anjali </a:t>
            </a:r>
            <a:r>
              <a:rPr lang="en-IN" dirty="0" err="1">
                <a:latin typeface="Verdana" panose="020B0604030504040204" pitchFamily="34" charset="0"/>
                <a:ea typeface="Verdana" panose="020B0604030504040204" pitchFamily="34" charset="0"/>
              </a:rPr>
              <a:t>Chindham</a:t>
            </a:r>
            <a:r>
              <a:rPr lang="en-IN" dirty="0">
                <a:latin typeface="Verdana" panose="020B0604030504040204" pitchFamily="34" charset="0"/>
                <a:ea typeface="Verdana" panose="020B0604030504040204" pitchFamily="34" charset="0"/>
              </a:rPr>
              <a:t>, </a:t>
            </a:r>
            <a:r>
              <a:rPr lang="en-IN" dirty="0" err="1">
                <a:latin typeface="Verdana" panose="020B0604030504040204" pitchFamily="34" charset="0"/>
                <a:ea typeface="Verdana" panose="020B0604030504040204" pitchFamily="34" charset="0"/>
              </a:rPr>
              <a:t>Donthagani</a:t>
            </a:r>
            <a:r>
              <a:rPr lang="en-IN" dirty="0">
                <a:latin typeface="Verdana" panose="020B0604030504040204" pitchFamily="34" charset="0"/>
                <a:ea typeface="Verdana" panose="020B0604030504040204" pitchFamily="34" charset="0"/>
              </a:rPr>
              <a:t> Rakesh, </a:t>
            </a:r>
            <a:r>
              <a:rPr lang="en-IN" dirty="0" err="1">
                <a:latin typeface="Verdana" panose="020B0604030504040204" pitchFamily="34" charset="0"/>
                <a:ea typeface="Verdana" panose="020B0604030504040204" pitchFamily="34" charset="0"/>
              </a:rPr>
              <a:t>Sabavath</a:t>
            </a:r>
            <a:r>
              <a:rPr lang="en-IN" dirty="0">
                <a:latin typeface="Verdana" panose="020B0604030504040204" pitchFamily="34" charset="0"/>
                <a:ea typeface="Verdana" panose="020B0604030504040204" pitchFamily="34" charset="0"/>
              </a:rPr>
              <a:t> </a:t>
            </a:r>
            <a:r>
              <a:rPr lang="en-IN" dirty="0" err="1">
                <a:latin typeface="Verdana" panose="020B0604030504040204" pitchFamily="34" charset="0"/>
                <a:ea typeface="Verdana" panose="020B0604030504040204" pitchFamily="34" charset="0"/>
              </a:rPr>
              <a:t>Virisha</a:t>
            </a:r>
            <a:r>
              <a:rPr lang="en-IN" dirty="0">
                <a:latin typeface="Verdana" panose="020B0604030504040204" pitchFamily="34" charset="0"/>
                <a:ea typeface="Verdana" panose="020B0604030504040204" pitchFamily="34" charset="0"/>
              </a:rPr>
              <a:t>, Racha Ganesh </a:t>
            </a:r>
          </a:p>
          <a:p>
            <a:pPr lvl="0"/>
            <a:r>
              <a:rPr lang="en-IN" b="1" dirty="0">
                <a:latin typeface="Verdana" panose="020B0604030504040204" pitchFamily="34" charset="0"/>
                <a:ea typeface="Verdana" panose="020B0604030504040204" pitchFamily="34" charset="0"/>
              </a:rPr>
              <a:t>Source : </a:t>
            </a:r>
            <a:r>
              <a:rPr lang="en-IN" dirty="0">
                <a:latin typeface="Verdana" panose="020B0604030504040204" pitchFamily="34" charset="0"/>
                <a:ea typeface="Verdana" panose="020B0604030504040204" pitchFamily="34" charset="0"/>
              </a:rPr>
              <a:t>Google scholar</a:t>
            </a:r>
          </a:p>
          <a:p>
            <a:pPr lvl="0"/>
            <a:r>
              <a:rPr lang="en-IN" b="1" dirty="0">
                <a:latin typeface="Verdana" panose="020B0604030504040204" pitchFamily="34" charset="0"/>
                <a:ea typeface="Verdana" panose="020B0604030504040204" pitchFamily="34" charset="0"/>
              </a:rPr>
              <a:t>Key takeaways: </a:t>
            </a:r>
            <a:r>
              <a:rPr lang="en-IN" dirty="0">
                <a:latin typeface="Verdana" panose="020B0604030504040204" pitchFamily="34" charset="0"/>
                <a:ea typeface="Verdana" panose="020B0604030504040204" pitchFamily="34" charset="0"/>
              </a:rPr>
              <a:t>The patient’s health vitals are considered as the input parameters and the patients health status is displayed on the FPGA board in the form of 0’s and 1’s.</a:t>
            </a:r>
          </a:p>
          <a:p>
            <a:pPr lvl="0"/>
            <a:endParaRPr lang="en-IN"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4. FPGA-Based Smart Health Monitoring Systems for Wearable Devices</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Muthukumaran </a:t>
            </a:r>
            <a:r>
              <a:rPr lang="en-IN" dirty="0" err="1">
                <a:latin typeface="Verdana" panose="020B0604030504040204" pitchFamily="34" charset="0"/>
                <a:ea typeface="Verdana" panose="020B0604030504040204" pitchFamily="34" charset="0"/>
              </a:rPr>
              <a:t>Vaithianathan</a:t>
            </a:r>
            <a:r>
              <a:rPr lang="en-IN" dirty="0">
                <a:latin typeface="Verdana" panose="020B0604030504040204" pitchFamily="34" charset="0"/>
                <a:ea typeface="Verdana" panose="020B0604030504040204" pitchFamily="34" charset="0"/>
              </a:rPr>
              <a:t>, Shivakumar </a:t>
            </a:r>
            <a:r>
              <a:rPr lang="en-IN" dirty="0" err="1">
                <a:latin typeface="Verdana" panose="020B0604030504040204" pitchFamily="34" charset="0"/>
                <a:ea typeface="Verdana" panose="020B0604030504040204" pitchFamily="34" charset="0"/>
              </a:rPr>
              <a:t>Udkar</a:t>
            </a:r>
            <a:r>
              <a:rPr lang="en-IN" dirty="0">
                <a:latin typeface="Verdana" panose="020B0604030504040204" pitchFamily="34" charset="0"/>
                <a:ea typeface="Verdana" panose="020B0604030504040204" pitchFamily="34" charset="0"/>
              </a:rPr>
              <a:t>, Manjunath Reddy, </a:t>
            </a:r>
            <a:r>
              <a:rPr lang="en-IN" dirty="0" err="1">
                <a:latin typeface="Verdana" panose="020B0604030504040204" pitchFamily="34" charset="0"/>
                <a:ea typeface="Verdana" panose="020B0604030504040204" pitchFamily="34" charset="0"/>
              </a:rPr>
              <a:t>Deepanjan</a:t>
            </a:r>
            <a:r>
              <a:rPr lang="en-IN" dirty="0">
                <a:latin typeface="Verdana" panose="020B0604030504040204" pitchFamily="34" charset="0"/>
                <a:ea typeface="Verdana" panose="020B0604030504040204" pitchFamily="34" charset="0"/>
              </a:rPr>
              <a:t> Roy, Senkadir Rajasekaran</a:t>
            </a:r>
          </a:p>
          <a:p>
            <a:pPr lvl="0"/>
            <a:r>
              <a:rPr lang="en-IN" b="1" dirty="0">
                <a:latin typeface="Verdana" panose="020B0604030504040204" pitchFamily="34" charset="0"/>
                <a:ea typeface="Verdana" panose="020B0604030504040204" pitchFamily="34" charset="0"/>
              </a:rPr>
              <a:t>Source : </a:t>
            </a:r>
            <a:r>
              <a:rPr lang="en-IN" dirty="0">
                <a:latin typeface="Verdana" panose="020B0604030504040204" pitchFamily="34" charset="0"/>
                <a:ea typeface="Verdana" panose="020B0604030504040204" pitchFamily="34" charset="0"/>
              </a:rPr>
              <a:t>Google scholar</a:t>
            </a:r>
          </a:p>
          <a:p>
            <a:pPr lvl="0"/>
            <a:r>
              <a:rPr lang="en-IN" b="1" dirty="0">
                <a:latin typeface="Verdana" panose="020B0604030504040204" pitchFamily="34" charset="0"/>
                <a:ea typeface="Verdana" panose="020B0604030504040204" pitchFamily="34" charset="0"/>
              </a:rPr>
              <a:t>Key takeaways: </a:t>
            </a:r>
            <a:r>
              <a:rPr lang="en-IN" dirty="0">
                <a:latin typeface="Verdana" panose="020B0604030504040204" pitchFamily="34" charset="0"/>
                <a:ea typeface="Verdana" panose="020B0604030504040204" pitchFamily="34" charset="0"/>
              </a:rPr>
              <a:t>By combining FPGA computing with cutting-edge sensor technology, intelligent health monitoring systems employ FPGA. Photoplethysmography (PPG) sensors quantify heart rate, while accelerometers document motion, among numerous other physiological attributes assessed by the extensive sensor networks of these systems.</a:t>
            </a:r>
          </a:p>
          <a:p>
            <a:pPr lvl="0"/>
            <a:endParaRPr lang="en-IN" dirty="0">
              <a:latin typeface="Verdana" panose="020B0604030504040204" pitchFamily="34" charset="0"/>
              <a:ea typeface="Verdana" panose="020B0604030504040204" pitchFamily="34" charset="0"/>
            </a:endParaRPr>
          </a:p>
          <a:p>
            <a:pPr lvl="0"/>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r>
              <a:rPr lang="en-IN" dirty="0">
                <a:latin typeface="Verdana" panose="020B0604030504040204" pitchFamily="34" charset="0"/>
                <a:ea typeface="Verdana" panose="020B0604030504040204" pitchFamily="34" charset="0"/>
              </a:rPr>
              <a:t> </a:t>
            </a:r>
          </a:p>
        </p:txBody>
      </p:sp>
    </p:spTree>
    <p:extLst>
      <p:ext uri="{BB962C8B-B14F-4D97-AF65-F5344CB8AC3E}">
        <p14:creationId xmlns:p14="http://schemas.microsoft.com/office/powerpoint/2010/main" val="2538241455"/>
      </p:ext>
    </p:extLst>
  </p:cSld>
  <p:clrMapOvr>
    <a:masterClrMapping/>
  </p:clrMapOvr>
  <mc:AlternateContent xmlns:mc="http://schemas.openxmlformats.org/markup-compatibility/2006" xmlns:p14="http://schemas.microsoft.com/office/powerpoint/2010/main">
    <mc:Choice Requires="p14">
      <p:transition spd="slow" p14:dur="2000" advTm="604"/>
    </mc:Choice>
    <mc:Fallback xmlns="">
      <p:transition spd="slow" advTm="604"/>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F300-F66F-6EEF-07E4-F4AB155441B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0B29367-BE52-83F5-1EE9-23FF10CAC5C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a:t>
            </a:fld>
            <a:endParaRPr lang="en-US" dirty="0"/>
          </a:p>
        </p:txBody>
      </p:sp>
      <p:sp>
        <p:nvSpPr>
          <p:cNvPr id="4" name="Google Shape;125;p3">
            <a:extLst>
              <a:ext uri="{FF2B5EF4-FFF2-40B4-BE49-F238E27FC236}">
                <a16:creationId xmlns:a16="http://schemas.microsoft.com/office/drawing/2014/main" id="{7D352B01-957F-BED8-3265-EE63411AFD3F}"/>
              </a:ext>
            </a:extLst>
          </p:cNvPr>
          <p:cNvSpPr txBox="1"/>
          <p:nvPr/>
        </p:nvSpPr>
        <p:spPr>
          <a:xfrm>
            <a:off x="1000124" y="97108"/>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dirty="0">
                <a:latin typeface="Montserrat"/>
                <a:sym typeface="Montserrat"/>
              </a:rPr>
              <a:t>Literature Survey</a:t>
            </a:r>
            <a:endParaRPr dirty="0"/>
          </a:p>
        </p:txBody>
      </p:sp>
      <p:sp>
        <p:nvSpPr>
          <p:cNvPr id="5" name="Google Shape;125;p3">
            <a:extLst>
              <a:ext uri="{FF2B5EF4-FFF2-40B4-BE49-F238E27FC236}">
                <a16:creationId xmlns:a16="http://schemas.microsoft.com/office/drawing/2014/main" id="{0B2CAE84-C61B-7B89-1C8E-6A425658F3CF}"/>
              </a:ext>
            </a:extLst>
          </p:cNvPr>
          <p:cNvSpPr txBox="1"/>
          <p:nvPr/>
        </p:nvSpPr>
        <p:spPr>
          <a:xfrm>
            <a:off x="432619" y="617092"/>
            <a:ext cx="11326761" cy="5735761"/>
          </a:xfrm>
          <a:prstGeom prst="rect">
            <a:avLst/>
          </a:prstGeom>
          <a:noFill/>
          <a:ln>
            <a:noFill/>
          </a:ln>
        </p:spPr>
        <p:txBody>
          <a:bodyPr spcFirstLastPara="1" wrap="square" lIns="91425" tIns="45700" rIns="91425" bIns="45700" anchor="t" anchorCtr="0">
            <a:noAutofit/>
          </a:bodyPr>
          <a:lstStyle/>
          <a:p>
            <a:pPr lvl="0"/>
            <a:endParaRPr lang="en-US"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5. </a:t>
            </a:r>
            <a:r>
              <a:rPr lang="en-US" b="1" dirty="0"/>
              <a:t>FPGA-Based System for </a:t>
            </a:r>
            <a:r>
              <a:rPr lang="en-US" b="1" dirty="0" err="1"/>
              <a:t>Countinous</a:t>
            </a:r>
            <a:r>
              <a:rPr lang="en-US" b="1" dirty="0"/>
              <a:t> Monitoring of Three Vital Signs of Human Body </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a:t>
            </a:r>
            <a:r>
              <a:rPr lang="en-US" dirty="0"/>
              <a:t>Aminuddin Rizal*, Munawar A </a:t>
            </a:r>
            <a:r>
              <a:rPr lang="en-US" dirty="0" err="1"/>
              <a:t>Riyadi</a:t>
            </a:r>
            <a:r>
              <a:rPr lang="en-US" dirty="0"/>
              <a:t>, </a:t>
            </a:r>
            <a:r>
              <a:rPr lang="en-US" dirty="0" err="1"/>
              <a:t>Darjat</a:t>
            </a:r>
            <a:endParaRPr lang="en-US" dirty="0"/>
          </a:p>
          <a:p>
            <a:pPr lvl="0"/>
            <a:r>
              <a:rPr lang="en-IN" b="1" dirty="0">
                <a:latin typeface="Verdana" panose="020B0604030504040204" pitchFamily="34" charset="0"/>
                <a:ea typeface="Verdana" panose="020B0604030504040204" pitchFamily="34" charset="0"/>
              </a:rPr>
              <a:t>Source: </a:t>
            </a:r>
            <a:r>
              <a:rPr lang="en-IN" dirty="0">
                <a:latin typeface="Verdana" panose="020B0604030504040204" pitchFamily="34" charset="0"/>
                <a:ea typeface="Verdana" panose="020B0604030504040204" pitchFamily="34" charset="0"/>
              </a:rPr>
              <a:t>IEEE Xplore</a:t>
            </a:r>
          </a:p>
          <a:p>
            <a:pPr lvl="0"/>
            <a:r>
              <a:rPr lang="en-IN" b="1" dirty="0">
                <a:latin typeface="Verdana" panose="020B0604030504040204" pitchFamily="34" charset="0"/>
                <a:ea typeface="Verdana" panose="020B0604030504040204" pitchFamily="34" charset="0"/>
              </a:rPr>
              <a:t>Key takeaways: </a:t>
            </a:r>
            <a:r>
              <a:rPr lang="en-US" dirty="0">
                <a:latin typeface="Verdana" panose="020B0604030504040204" pitchFamily="34" charset="0"/>
                <a:ea typeface="Verdana" panose="020B0604030504040204" pitchFamily="34" charset="0"/>
              </a:rPr>
              <a:t>This paper is mainly used to track heart conditions, respiratory system and body conditions by monitoring age, heart rate, breathe rate and body temperature. All the data that is tracked by various sensors are integrated into the system to process of health data. Health report and Health status as outputs where health report contains Body temperature </a:t>
            </a:r>
            <a:r>
              <a:rPr lang="en-US" dirty="0" err="1">
                <a:latin typeface="Verdana" panose="020B0604030504040204" pitchFamily="34" charset="0"/>
                <a:ea typeface="Verdana" panose="020B0604030504040204" pitchFamily="34" charset="0"/>
              </a:rPr>
              <a:t>conditions,Heart</a:t>
            </a:r>
            <a:r>
              <a:rPr lang="en-US" dirty="0">
                <a:latin typeface="Verdana" panose="020B0604030504040204" pitchFamily="34" charset="0"/>
                <a:ea typeface="Verdana" panose="020B0604030504040204" pitchFamily="34" charset="0"/>
              </a:rPr>
              <a:t> conditions and Respiratory conditions.</a:t>
            </a:r>
            <a:r>
              <a:rPr lang="en-US" dirty="0"/>
              <a:t> The paper presents a low-cost FPGA-based system that continuously measures three vital signs—temperature, heart rate, and respiratory rate—using simple non-invasive sensors with good accuracy, making it suitable for affordable patient monitoring.</a:t>
            </a:r>
            <a:endParaRPr lang="en-US" dirty="0">
              <a:latin typeface="Verdana" panose="020B0604030504040204" pitchFamily="34" charset="0"/>
              <a:ea typeface="Verdana" panose="020B0604030504040204" pitchFamily="34" charset="0"/>
            </a:endParaRPr>
          </a:p>
          <a:p>
            <a:pPr lvl="0"/>
            <a:endParaRPr lang="en-US" dirty="0">
              <a:latin typeface="Verdana" panose="020B0604030504040204" pitchFamily="34" charset="0"/>
              <a:ea typeface="Verdana" panose="020B0604030504040204" pitchFamily="34" charset="0"/>
            </a:endParaRPr>
          </a:p>
          <a:p>
            <a:pPr lvl="0"/>
            <a:endParaRPr lang="en-US"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6. </a:t>
            </a:r>
            <a:r>
              <a:rPr lang="en-US" b="1" dirty="0"/>
              <a:t>Monitoring Temperature in FPGA based SoCs</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a:t>
            </a:r>
            <a:r>
              <a:rPr lang="en-US" dirty="0"/>
              <a:t>Siva Velusamy , Wei Huang , John Lach, Mircea </a:t>
            </a:r>
            <a:r>
              <a:rPr lang="en-US" dirty="0" err="1"/>
              <a:t>Stan,and</a:t>
            </a:r>
            <a:r>
              <a:rPr lang="en-US" dirty="0"/>
              <a:t> Kevin </a:t>
            </a:r>
            <a:r>
              <a:rPr lang="en-US" dirty="0" err="1"/>
              <a:t>Skadron</a:t>
            </a:r>
            <a:r>
              <a:rPr lang="en-US" dirty="0"/>
              <a:t> </a:t>
            </a:r>
          </a:p>
          <a:p>
            <a:r>
              <a:rPr lang="en-IN" b="1" dirty="0">
                <a:latin typeface="Verdana" panose="020B0604030504040204" pitchFamily="34" charset="0"/>
                <a:ea typeface="Verdana" panose="020B0604030504040204" pitchFamily="34" charset="0"/>
              </a:rPr>
              <a:t>Source: </a:t>
            </a:r>
            <a:r>
              <a:rPr lang="en-IN" dirty="0">
                <a:latin typeface="Verdana" panose="020B0604030504040204" pitchFamily="34" charset="0"/>
                <a:ea typeface="Verdana" panose="020B0604030504040204" pitchFamily="34" charset="0"/>
              </a:rPr>
              <a:t>IEEE Xplore</a:t>
            </a:r>
          </a:p>
          <a:p>
            <a:r>
              <a:rPr lang="en-IN" b="1" dirty="0">
                <a:latin typeface="Verdana" panose="020B0604030504040204" pitchFamily="34" charset="0"/>
                <a:ea typeface="Verdana" panose="020B0604030504040204" pitchFamily="34" charset="0"/>
              </a:rPr>
              <a:t>Key takeaways:</a:t>
            </a:r>
            <a:r>
              <a:rPr lang="en-IN" dirty="0">
                <a:latin typeface="Verdana" panose="020B0604030504040204" pitchFamily="34" charset="0"/>
                <a:ea typeface="Verdana" panose="020B0604030504040204" pitchFamily="34" charset="0"/>
              </a:rPr>
              <a:t> The </a:t>
            </a:r>
            <a:r>
              <a:rPr lang="en-US" dirty="0"/>
              <a:t>paper demonstrates an FPGA-based system that accurately monitors on-chip temperatures using ring-oscillator sensors, validates these readings against </a:t>
            </a:r>
            <a:r>
              <a:rPr lang="en-US" dirty="0" err="1"/>
              <a:t>HotSpot</a:t>
            </a:r>
            <a:r>
              <a:rPr lang="en-US" dirty="0"/>
              <a:t> simulations, and shows that effective dynamic thermal management can reduce local hotspots by intelligently distributing high-power blocks.</a:t>
            </a:r>
          </a:p>
          <a:p>
            <a:pPr lvl="0"/>
            <a:endParaRPr lang="en-US" dirty="0">
              <a:latin typeface="Verdana" panose="020B0604030504040204" pitchFamily="34" charset="0"/>
              <a:ea typeface="Verdana" panose="020B0604030504040204" pitchFamily="34" charset="0"/>
            </a:endParaRPr>
          </a:p>
          <a:p>
            <a:pPr lvl="0"/>
            <a:endParaRPr lang="en-US"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Existing Implementations:</a:t>
            </a:r>
          </a:p>
          <a:p>
            <a:pPr lvl="0"/>
            <a:endParaRPr lang="en-US" dirty="0">
              <a:latin typeface="Verdana" panose="020B0604030504040204" pitchFamily="34" charset="0"/>
              <a:ea typeface="Verdana" panose="020B0604030504040204" pitchFamily="34" charset="0"/>
            </a:endParaRPr>
          </a:p>
          <a:p>
            <a:pPr lvl="0"/>
            <a:r>
              <a:rPr lang="en-IN" dirty="0">
                <a:latin typeface="Verdana" panose="020B0604030504040204" pitchFamily="34" charset="0"/>
                <a:ea typeface="Verdana" panose="020B0604030504040204" pitchFamily="34" charset="0"/>
                <a:hlinkClick r:id="rId2"/>
              </a:rPr>
              <a:t>https://github.com/anik187/FPGA_BASED_HEALTH_MONITORING_SYSTEM</a:t>
            </a: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r>
              <a:rPr lang="en-IN" dirty="0">
                <a:latin typeface="Verdana" panose="020B0604030504040204" pitchFamily="34" charset="0"/>
                <a:ea typeface="Verdana" panose="020B0604030504040204" pitchFamily="34" charset="0"/>
              </a:rPr>
              <a:t> </a:t>
            </a:r>
          </a:p>
        </p:txBody>
      </p:sp>
    </p:spTree>
    <p:extLst>
      <p:ext uri="{BB962C8B-B14F-4D97-AF65-F5344CB8AC3E}">
        <p14:creationId xmlns:p14="http://schemas.microsoft.com/office/powerpoint/2010/main" val="3747308577"/>
      </p:ext>
    </p:extLst>
  </p:cSld>
  <p:clrMapOvr>
    <a:masterClrMapping/>
  </p:clrMapOvr>
  <mc:AlternateContent xmlns:mc="http://schemas.openxmlformats.org/markup-compatibility/2006" xmlns:p14="http://schemas.microsoft.com/office/powerpoint/2010/main">
    <mc:Choice Requires="p14">
      <p:transition spd="slow" p14:dur="2000" advTm="673"/>
    </mc:Choice>
    <mc:Fallback xmlns="">
      <p:transition spd="slow" advTm="673"/>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F53F8-9556-4270-5B9D-9550237E944E}"/>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CCA8DE1-C914-AC92-41A9-F53CE64505D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a:t>
            </a:fld>
            <a:endParaRPr lang="en-US" dirty="0"/>
          </a:p>
        </p:txBody>
      </p:sp>
      <p:sp>
        <p:nvSpPr>
          <p:cNvPr id="4" name="Google Shape;125;p3">
            <a:extLst>
              <a:ext uri="{FF2B5EF4-FFF2-40B4-BE49-F238E27FC236}">
                <a16:creationId xmlns:a16="http://schemas.microsoft.com/office/drawing/2014/main" id="{DB20A693-DAF6-90F8-E452-0AF12BA5AC45}"/>
              </a:ext>
            </a:extLst>
          </p:cNvPr>
          <p:cNvSpPr txBox="1"/>
          <p:nvPr/>
        </p:nvSpPr>
        <p:spPr>
          <a:xfrm>
            <a:off x="838200" y="31820"/>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dirty="0">
                <a:latin typeface="Montserrat"/>
                <a:sym typeface="Montserrat"/>
              </a:rPr>
              <a:t>Architecture  </a:t>
            </a:r>
            <a:endParaRPr dirty="0"/>
          </a:p>
        </p:txBody>
      </p:sp>
      <p:sp>
        <p:nvSpPr>
          <p:cNvPr id="5" name="Google Shape;125;p3">
            <a:extLst>
              <a:ext uri="{FF2B5EF4-FFF2-40B4-BE49-F238E27FC236}">
                <a16:creationId xmlns:a16="http://schemas.microsoft.com/office/drawing/2014/main" id="{11DCD2FE-F6D8-3416-49EA-CE0660F5B1E7}"/>
              </a:ext>
            </a:extLst>
          </p:cNvPr>
          <p:cNvSpPr txBox="1"/>
          <p:nvPr/>
        </p:nvSpPr>
        <p:spPr>
          <a:xfrm>
            <a:off x="452284" y="788096"/>
            <a:ext cx="5761704"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u="sng" dirty="0">
                <a:latin typeface="Verdana" panose="020B0604030504040204" pitchFamily="34" charset="0"/>
                <a:ea typeface="Verdana" panose="020B0604030504040204" pitchFamily="34" charset="0"/>
              </a:rPr>
              <a:t>Structural Diagram</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sp>
        <p:nvSpPr>
          <p:cNvPr id="2" name="Google Shape;125;p3">
            <a:extLst>
              <a:ext uri="{FF2B5EF4-FFF2-40B4-BE49-F238E27FC236}">
                <a16:creationId xmlns:a16="http://schemas.microsoft.com/office/drawing/2014/main" id="{7B3FE64C-ED43-A052-11E8-812792B8FDDF}"/>
              </a:ext>
            </a:extLst>
          </p:cNvPr>
          <p:cNvSpPr txBox="1"/>
          <p:nvPr/>
        </p:nvSpPr>
        <p:spPr>
          <a:xfrm>
            <a:off x="6213988" y="757114"/>
            <a:ext cx="5761704"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sz="1200" dirty="0">
                <a:latin typeface="Verdana" panose="020B0604030504040204" pitchFamily="34" charset="0"/>
                <a:ea typeface="Verdana" panose="020B0604030504040204" pitchFamily="34" charset="0"/>
              </a:rPr>
              <a:t> </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pic>
        <p:nvPicPr>
          <p:cNvPr id="7" name="Picture 6">
            <a:extLst>
              <a:ext uri="{FF2B5EF4-FFF2-40B4-BE49-F238E27FC236}">
                <a16:creationId xmlns:a16="http://schemas.microsoft.com/office/drawing/2014/main" id="{17BC6E6C-4CF6-9D45-CE1E-0556B9EE416C}"/>
              </a:ext>
            </a:extLst>
          </p:cNvPr>
          <p:cNvPicPr>
            <a:picLocks noChangeAspect="1"/>
          </p:cNvPicPr>
          <p:nvPr/>
        </p:nvPicPr>
        <p:blipFill>
          <a:blip r:embed="rId2"/>
          <a:stretch>
            <a:fillRect/>
          </a:stretch>
        </p:blipFill>
        <p:spPr>
          <a:xfrm>
            <a:off x="452284" y="1081377"/>
            <a:ext cx="10719299" cy="4890053"/>
          </a:xfrm>
          <a:prstGeom prst="rect">
            <a:avLst/>
          </a:prstGeom>
        </p:spPr>
      </p:pic>
    </p:spTree>
    <p:extLst>
      <p:ext uri="{BB962C8B-B14F-4D97-AF65-F5344CB8AC3E}">
        <p14:creationId xmlns:p14="http://schemas.microsoft.com/office/powerpoint/2010/main" val="1869460620"/>
      </p:ext>
    </p:extLst>
  </p:cSld>
  <p:clrMapOvr>
    <a:masterClrMapping/>
  </p:clrMapOvr>
  <mc:AlternateContent xmlns:mc="http://schemas.openxmlformats.org/markup-compatibility/2006" xmlns:p14="http://schemas.microsoft.com/office/powerpoint/2010/main">
    <mc:Choice Requires="p14">
      <p:transition spd="slow" p14:dur="2000" advTm="6502"/>
    </mc:Choice>
    <mc:Fallback xmlns="">
      <p:transition spd="slow" advTm="6502"/>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0A679-E69A-880C-5898-E9665A5E8E1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294DB89-A228-1BD8-2569-CF0CA56D1F3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dirty="0"/>
          </a:p>
        </p:txBody>
      </p:sp>
      <p:sp>
        <p:nvSpPr>
          <p:cNvPr id="4" name="Google Shape;125;p3">
            <a:extLst>
              <a:ext uri="{FF2B5EF4-FFF2-40B4-BE49-F238E27FC236}">
                <a16:creationId xmlns:a16="http://schemas.microsoft.com/office/drawing/2014/main" id="{9608C07A-0B38-2911-5E78-E787AEB169FD}"/>
              </a:ext>
            </a:extLst>
          </p:cNvPr>
          <p:cNvSpPr txBox="1"/>
          <p:nvPr/>
        </p:nvSpPr>
        <p:spPr>
          <a:xfrm>
            <a:off x="838200" y="31820"/>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dirty="0">
                <a:latin typeface="Montserrat"/>
                <a:sym typeface="Montserrat"/>
              </a:rPr>
              <a:t>Architecture  </a:t>
            </a:r>
            <a:endParaRPr dirty="0"/>
          </a:p>
        </p:txBody>
      </p:sp>
      <p:sp>
        <p:nvSpPr>
          <p:cNvPr id="5" name="Google Shape;125;p3">
            <a:extLst>
              <a:ext uri="{FF2B5EF4-FFF2-40B4-BE49-F238E27FC236}">
                <a16:creationId xmlns:a16="http://schemas.microsoft.com/office/drawing/2014/main" id="{C7A0427F-8351-6100-05CD-441CB6739E09}"/>
              </a:ext>
            </a:extLst>
          </p:cNvPr>
          <p:cNvSpPr txBox="1"/>
          <p:nvPr/>
        </p:nvSpPr>
        <p:spPr>
          <a:xfrm>
            <a:off x="452284" y="788096"/>
            <a:ext cx="5761704"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u="sng" dirty="0">
                <a:latin typeface="Verdana" panose="020B0604030504040204" pitchFamily="34" charset="0"/>
                <a:ea typeface="Verdana" panose="020B0604030504040204" pitchFamily="34" charset="0"/>
              </a:rPr>
              <a:t>Flow chart</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sp>
        <p:nvSpPr>
          <p:cNvPr id="2" name="Google Shape;125;p3">
            <a:extLst>
              <a:ext uri="{FF2B5EF4-FFF2-40B4-BE49-F238E27FC236}">
                <a16:creationId xmlns:a16="http://schemas.microsoft.com/office/drawing/2014/main" id="{A830B018-DF02-0AE4-1C5C-1036B885024F}"/>
              </a:ext>
            </a:extLst>
          </p:cNvPr>
          <p:cNvSpPr txBox="1"/>
          <p:nvPr/>
        </p:nvSpPr>
        <p:spPr>
          <a:xfrm>
            <a:off x="6213988" y="757114"/>
            <a:ext cx="5761704"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sz="1200" dirty="0">
                <a:latin typeface="Verdana" panose="020B0604030504040204" pitchFamily="34" charset="0"/>
                <a:ea typeface="Verdana" panose="020B0604030504040204" pitchFamily="34" charset="0"/>
              </a:rPr>
              <a:t> </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pic>
        <p:nvPicPr>
          <p:cNvPr id="8" name="Picture 7">
            <a:extLst>
              <a:ext uri="{FF2B5EF4-FFF2-40B4-BE49-F238E27FC236}">
                <a16:creationId xmlns:a16="http://schemas.microsoft.com/office/drawing/2014/main" id="{F8C58892-A179-3CDB-0DEC-71C11B58F961}"/>
              </a:ext>
            </a:extLst>
          </p:cNvPr>
          <p:cNvPicPr>
            <a:picLocks noChangeAspect="1"/>
          </p:cNvPicPr>
          <p:nvPr/>
        </p:nvPicPr>
        <p:blipFill>
          <a:blip r:embed="rId2"/>
          <a:srcRect t="1260"/>
          <a:stretch>
            <a:fillRect/>
          </a:stretch>
        </p:blipFill>
        <p:spPr>
          <a:xfrm>
            <a:off x="6685027" y="757114"/>
            <a:ext cx="4821026" cy="5205838"/>
          </a:xfrm>
          <a:prstGeom prst="rect">
            <a:avLst/>
          </a:prstGeom>
        </p:spPr>
      </p:pic>
      <p:pic>
        <p:nvPicPr>
          <p:cNvPr id="10" name="Picture 9">
            <a:extLst>
              <a:ext uri="{FF2B5EF4-FFF2-40B4-BE49-F238E27FC236}">
                <a16:creationId xmlns:a16="http://schemas.microsoft.com/office/drawing/2014/main" id="{2E1F039F-4120-889A-D025-878DD5A06248}"/>
              </a:ext>
            </a:extLst>
          </p:cNvPr>
          <p:cNvPicPr>
            <a:picLocks noChangeAspect="1"/>
          </p:cNvPicPr>
          <p:nvPr/>
        </p:nvPicPr>
        <p:blipFill>
          <a:blip r:embed="rId3"/>
          <a:stretch>
            <a:fillRect/>
          </a:stretch>
        </p:blipFill>
        <p:spPr>
          <a:xfrm>
            <a:off x="685947" y="1921418"/>
            <a:ext cx="4599004" cy="3015164"/>
          </a:xfrm>
          <a:prstGeom prst="rect">
            <a:avLst/>
          </a:prstGeom>
        </p:spPr>
      </p:pic>
    </p:spTree>
    <p:extLst>
      <p:ext uri="{BB962C8B-B14F-4D97-AF65-F5344CB8AC3E}">
        <p14:creationId xmlns:p14="http://schemas.microsoft.com/office/powerpoint/2010/main" val="2259218308"/>
      </p:ext>
    </p:extLst>
  </p:cSld>
  <p:clrMapOvr>
    <a:masterClrMapping/>
  </p:clrMapOvr>
  <mc:AlternateContent xmlns:mc="http://schemas.openxmlformats.org/markup-compatibility/2006" xmlns:p14="http://schemas.microsoft.com/office/powerpoint/2010/main">
    <mc:Choice Requires="p14">
      <p:transition spd="slow" p14:dur="2000" advTm="868"/>
    </mc:Choice>
    <mc:Fallback xmlns="">
      <p:transition spd="slow" advTm="868"/>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15D3A-9A48-EF9A-EB65-EB10498FEC7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C7AF62C-2799-3920-609C-4BB1158D8DD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a:t>
            </a:fld>
            <a:endParaRPr lang="en-US" dirty="0"/>
          </a:p>
        </p:txBody>
      </p:sp>
      <p:sp>
        <p:nvSpPr>
          <p:cNvPr id="4" name="Google Shape;125;p3">
            <a:extLst>
              <a:ext uri="{FF2B5EF4-FFF2-40B4-BE49-F238E27FC236}">
                <a16:creationId xmlns:a16="http://schemas.microsoft.com/office/drawing/2014/main" id="{4B16CBD0-DE63-9577-B3D8-89D754C838DF}"/>
              </a:ext>
            </a:extLst>
          </p:cNvPr>
          <p:cNvSpPr txBox="1"/>
          <p:nvPr/>
        </p:nvSpPr>
        <p:spPr>
          <a:xfrm>
            <a:off x="1000124" y="232275"/>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US" sz="2400" b="1" i="0" u="none" strike="noStrike" cap="none" dirty="0">
                <a:solidFill>
                  <a:srgbClr val="000000"/>
                </a:solidFill>
                <a:latin typeface="Montserrat"/>
                <a:ea typeface="Montserrat"/>
                <a:cs typeface="Montserrat"/>
                <a:sym typeface="Montserrat"/>
              </a:rPr>
              <a:t>Use Cases &amp; Testing</a:t>
            </a:r>
            <a:endParaRPr lang="en-US" sz="1400" b="0" i="0" u="none" strike="noStrike" cap="none" dirty="0">
              <a:solidFill>
                <a:srgbClr val="000000"/>
              </a:solidFill>
              <a:latin typeface="Arial"/>
              <a:ea typeface="Arial"/>
              <a:cs typeface="Arial"/>
              <a:sym typeface="Arial"/>
            </a:endParaRPr>
          </a:p>
        </p:txBody>
      </p:sp>
      <p:sp>
        <p:nvSpPr>
          <p:cNvPr id="5" name="Google Shape;125;p3">
            <a:extLst>
              <a:ext uri="{FF2B5EF4-FFF2-40B4-BE49-F238E27FC236}">
                <a16:creationId xmlns:a16="http://schemas.microsoft.com/office/drawing/2014/main" id="{260EAF32-7213-2CCB-4658-501C4BEA8CF4}"/>
              </a:ext>
            </a:extLst>
          </p:cNvPr>
          <p:cNvSpPr txBox="1"/>
          <p:nvPr/>
        </p:nvSpPr>
        <p:spPr>
          <a:xfrm>
            <a:off x="452284" y="788096"/>
            <a:ext cx="5545397"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dirty="0">
                <a:latin typeface="Verdana" panose="020B0604030504040204" pitchFamily="34" charset="0"/>
                <a:ea typeface="Verdana" panose="020B0604030504040204" pitchFamily="34" charset="0"/>
              </a:rPr>
              <a:t>Use Cases</a:t>
            </a:r>
          </a:p>
          <a:p>
            <a:pPr marL="0" marR="0" lvl="0" indent="0" rtl="0">
              <a:lnSpc>
                <a:spcPct val="100000"/>
              </a:lnSpc>
              <a:spcBef>
                <a:spcPts val="0"/>
              </a:spcBef>
              <a:spcAft>
                <a:spcPts val="0"/>
              </a:spcAft>
              <a:buNone/>
            </a:pPr>
            <a:endParaRPr lang="en-IN" b="1"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Continuous Monitoring:</a:t>
            </a:r>
            <a:r>
              <a:rPr lang="en-US" dirty="0">
                <a:latin typeface="Verdana" panose="020B0604030504040204" pitchFamily="34" charset="0"/>
                <a:ea typeface="Verdana" panose="020B0604030504040204" pitchFamily="34" charset="0"/>
              </a:rPr>
              <a:t> The system continuously acquires and monitors vital signs (heart rate, blood pressure, temperature) of a patient in real-time.</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Abnormal Vital Alert:</a:t>
            </a:r>
            <a:r>
              <a:rPr lang="en-US" dirty="0">
                <a:latin typeface="Verdana" panose="020B0604030504040204" pitchFamily="34" charset="0"/>
                <a:ea typeface="Verdana" panose="020B0604030504040204" pitchFamily="34" charset="0"/>
              </a:rPr>
              <a:t> Automatically detects abnormal vital signs (e.g., high blood pressure) and generates alerts for immediate attention.</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Patient History Management:</a:t>
            </a:r>
            <a:r>
              <a:rPr lang="en-US" dirty="0">
                <a:latin typeface="Verdana" panose="020B0604030504040204" pitchFamily="34" charset="0"/>
                <a:ea typeface="Verdana" panose="020B0604030504040204" pitchFamily="34" charset="0"/>
              </a:rPr>
              <a:t> Stores and retrieves comprehensive patient medical history including past treatments and health reports for doctor reference.</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Doctor Notification:</a:t>
            </a:r>
            <a:r>
              <a:rPr lang="en-US" dirty="0">
                <a:latin typeface="Verdana" panose="020B0604030504040204" pitchFamily="34" charset="0"/>
                <a:ea typeface="Verdana" panose="020B0604030504040204" pitchFamily="34" charset="0"/>
              </a:rPr>
              <a:t> Sends alerts and real-time patient data to the attending doctor or healthcare staff for timely intervention.</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Data Logging:</a:t>
            </a:r>
            <a:r>
              <a:rPr lang="en-US" dirty="0">
                <a:latin typeface="Verdana" panose="020B0604030504040204" pitchFamily="34" charset="0"/>
                <a:ea typeface="Verdana" panose="020B0604030504040204" pitchFamily="34" charset="0"/>
              </a:rPr>
              <a:t> Maintains logs of all monitored health parameters with timestamps for review and analysis.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Remote Monitoring:</a:t>
            </a:r>
            <a:r>
              <a:rPr lang="en-US" dirty="0">
                <a:latin typeface="Verdana" panose="020B0604030504040204" pitchFamily="34" charset="0"/>
                <a:ea typeface="Verdana" panose="020B0604030504040204" pitchFamily="34" charset="0"/>
              </a:rPr>
              <a:t> Enables remote access to patient vitals and history, allowing monitoring from different locations (future implementation).</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Multi-Patient Monitoring:</a:t>
            </a:r>
            <a:r>
              <a:rPr lang="en-US" dirty="0">
                <a:latin typeface="Verdana" panose="020B0604030504040204" pitchFamily="34" charset="0"/>
                <a:ea typeface="Verdana" panose="020B0604030504040204" pitchFamily="34" charset="0"/>
              </a:rPr>
              <a:t> Supports monitoring multiple patients simultaneously in hospital or home-care settings (future scope).</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L="285750" marR="0" lvl="0" indent="-285750" rtl="0">
              <a:lnSpc>
                <a:spcPct val="100000"/>
              </a:lnSpc>
              <a:spcBef>
                <a:spcPts val="0"/>
              </a:spcBef>
              <a:spcAft>
                <a:spcPts val="0"/>
              </a:spcAft>
              <a:buFont typeface="Arial" panose="020B0604020202020204" pitchFamily="34" charset="0"/>
              <a:buChar char="•"/>
            </a:pPr>
            <a:endParaRPr lang="en-IN" dirty="0">
              <a:latin typeface="Verdana" panose="020B0604030504040204" pitchFamily="34" charset="0"/>
              <a:ea typeface="Verdana" panose="020B0604030504040204" pitchFamily="34" charset="0"/>
            </a:endParaRPr>
          </a:p>
        </p:txBody>
      </p:sp>
      <p:sp>
        <p:nvSpPr>
          <p:cNvPr id="2" name="Google Shape;125;p3">
            <a:extLst>
              <a:ext uri="{FF2B5EF4-FFF2-40B4-BE49-F238E27FC236}">
                <a16:creationId xmlns:a16="http://schemas.microsoft.com/office/drawing/2014/main" id="{1DFC5A03-8723-D0D0-00E3-3B2AA3C32CD5}"/>
              </a:ext>
            </a:extLst>
          </p:cNvPr>
          <p:cNvSpPr txBox="1"/>
          <p:nvPr/>
        </p:nvSpPr>
        <p:spPr>
          <a:xfrm>
            <a:off x="6213988" y="788096"/>
            <a:ext cx="5301736"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dirty="0">
                <a:latin typeface="Verdana" panose="020B0604030504040204" pitchFamily="34" charset="0"/>
                <a:ea typeface="Verdana" panose="020B0604030504040204" pitchFamily="34" charset="0"/>
              </a:rPr>
              <a:t>Test Cases </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Sensor Data Accuracy Test:</a:t>
            </a:r>
            <a:r>
              <a:rPr lang="en-US" dirty="0">
                <a:latin typeface="Verdana" panose="020B0604030504040204" pitchFamily="34" charset="0"/>
                <a:ea typeface="Verdana" panose="020B0604030504040204" pitchFamily="34" charset="0"/>
              </a:rPr>
              <a:t> Validate that heart rate, blood pressure, and temperature sensors output accurate readings compared to standard devices.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Alert Generation Test:</a:t>
            </a:r>
            <a:r>
              <a:rPr lang="en-US" dirty="0">
                <a:latin typeface="Verdana" panose="020B0604030504040204" pitchFamily="34" charset="0"/>
                <a:ea typeface="Verdana" panose="020B0604030504040204" pitchFamily="34" charset="0"/>
              </a:rPr>
              <a:t> Test the system’s ability to trigger alerts when vitals cross predefined threshold limits.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Data Storage Test:</a:t>
            </a:r>
            <a:r>
              <a:rPr lang="en-US" dirty="0">
                <a:latin typeface="Verdana" panose="020B0604030504040204" pitchFamily="34" charset="0"/>
                <a:ea typeface="Verdana" panose="020B0604030504040204" pitchFamily="34" charset="0"/>
              </a:rPr>
              <a:t> Verify patient history data is correctly saved, updated, and retrieved from the memory without loss or corruption.</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System Response Time Test:</a:t>
            </a:r>
            <a:r>
              <a:rPr lang="en-US" dirty="0">
                <a:latin typeface="Verdana" panose="020B0604030504040204" pitchFamily="34" charset="0"/>
                <a:ea typeface="Verdana" panose="020B0604030504040204" pitchFamily="34" charset="0"/>
              </a:rPr>
              <a:t> Measure the time taken to process sensor data and generate alerts to ensure real-time performance.</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Fault Tolerance Test:</a:t>
            </a:r>
            <a:r>
              <a:rPr lang="en-US" dirty="0">
                <a:latin typeface="Verdana" panose="020B0604030504040204" pitchFamily="34" charset="0"/>
                <a:ea typeface="Verdana" panose="020B0604030504040204" pitchFamily="34" charset="0"/>
              </a:rPr>
              <a:t> Check system behavior when one or more sensors fail or provide faulty readings.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Power Failure Test:</a:t>
            </a:r>
            <a:r>
              <a:rPr lang="en-US" dirty="0">
                <a:latin typeface="Verdana" panose="020B0604030504040204" pitchFamily="34" charset="0"/>
                <a:ea typeface="Verdana" panose="020B0604030504040204" pitchFamily="34" charset="0"/>
              </a:rPr>
              <a:t> Assess system recovery and data integrity after sudden power interruptions.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Boundary Condition Test:</a:t>
            </a:r>
            <a:r>
              <a:rPr lang="en-US" dirty="0">
                <a:latin typeface="Verdana" panose="020B0604030504040204" pitchFamily="34" charset="0"/>
                <a:ea typeface="Verdana" panose="020B0604030504040204" pitchFamily="34" charset="0"/>
              </a:rPr>
              <a:t> Test system performance with minimum and maximum expected vital sign values.</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1995428012"/>
      </p:ext>
    </p:extLst>
  </p:cSld>
  <p:clrMapOvr>
    <a:masterClrMapping/>
  </p:clrMapOvr>
  <mc:AlternateContent xmlns:mc="http://schemas.openxmlformats.org/markup-compatibility/2006" xmlns:p14="http://schemas.microsoft.com/office/powerpoint/2010/main">
    <mc:Choice Requires="p14">
      <p:transition spd="slow" p14:dur="2000" advTm="523"/>
    </mc:Choice>
    <mc:Fallback xmlns="">
      <p:transition spd="slow" advTm="523"/>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177D750-F5BE-0233-E2EE-600618C6E1E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a:t>
            </a:fld>
            <a:endParaRPr lang="en-US" dirty="0"/>
          </a:p>
        </p:txBody>
      </p:sp>
      <p:sp>
        <p:nvSpPr>
          <p:cNvPr id="5" name="TextBox 4">
            <a:extLst>
              <a:ext uri="{FF2B5EF4-FFF2-40B4-BE49-F238E27FC236}">
                <a16:creationId xmlns:a16="http://schemas.microsoft.com/office/drawing/2014/main" id="{3B3C8721-7CDB-417F-B80E-3306575809E6}"/>
              </a:ext>
            </a:extLst>
          </p:cNvPr>
          <p:cNvSpPr txBox="1"/>
          <p:nvPr/>
        </p:nvSpPr>
        <p:spPr>
          <a:xfrm>
            <a:off x="2783072" y="329892"/>
            <a:ext cx="6182832" cy="400110"/>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2400"/>
              <a:buFont typeface="Arial"/>
              <a:buNone/>
            </a:pPr>
            <a:r>
              <a:rPr lang="en-US" sz="2000" b="1" i="0" u="none" strike="noStrike" cap="none" dirty="0">
                <a:solidFill>
                  <a:srgbClr val="000000"/>
                </a:solidFill>
                <a:latin typeface="Montserrat"/>
                <a:ea typeface="Montserrat"/>
                <a:cs typeface="Montserrat"/>
                <a:sym typeface="Montserrat"/>
              </a:rPr>
              <a:t>Implementation and Results – Iteration 1 </a:t>
            </a:r>
            <a:endParaRPr lang="en-US" sz="2000" b="0" i="0" u="none" strike="noStrike" cap="none" dirty="0">
              <a:solidFill>
                <a:srgbClr val="000000"/>
              </a:solidFill>
              <a:latin typeface="Arial"/>
              <a:ea typeface="Arial"/>
              <a:cs typeface="Arial"/>
              <a:sym typeface="Arial"/>
            </a:endParaRPr>
          </a:p>
        </p:txBody>
      </p:sp>
      <p:sp>
        <p:nvSpPr>
          <p:cNvPr id="7" name="TextBox 6">
            <a:extLst>
              <a:ext uri="{FF2B5EF4-FFF2-40B4-BE49-F238E27FC236}">
                <a16:creationId xmlns:a16="http://schemas.microsoft.com/office/drawing/2014/main" id="{7F3EAECF-05AB-13B5-4D95-29C140901961}"/>
              </a:ext>
            </a:extLst>
          </p:cNvPr>
          <p:cNvSpPr txBox="1"/>
          <p:nvPr/>
        </p:nvSpPr>
        <p:spPr>
          <a:xfrm>
            <a:off x="869211" y="988827"/>
            <a:ext cx="10380035" cy="2923877"/>
          </a:xfrm>
          <a:prstGeom prst="rect">
            <a:avLst/>
          </a:prstGeom>
          <a:noFill/>
        </p:spPr>
        <p:txBody>
          <a:bodyPr wrap="square">
            <a:spAutoFit/>
          </a:bodyPr>
          <a:lstStyle/>
          <a:p>
            <a:r>
              <a:rPr lang="en-IN" sz="1600" b="1" dirty="0">
                <a:latin typeface="Verdana" panose="020B0604030504040204" pitchFamily="34" charset="0"/>
                <a:ea typeface="Verdana" panose="020B0604030504040204" pitchFamily="34" charset="0"/>
              </a:rPr>
              <a:t>Iteration 1 </a:t>
            </a:r>
            <a:r>
              <a:rPr lang="en-IN" b="1" dirty="0">
                <a:latin typeface="Verdana" panose="020B0604030504040204" pitchFamily="34" charset="0"/>
                <a:ea typeface="Verdana" panose="020B0604030504040204" pitchFamily="34" charset="0"/>
              </a:rPr>
              <a:t>: </a:t>
            </a:r>
          </a:p>
          <a:p>
            <a:r>
              <a:rPr lang="en-US" dirty="0"/>
              <a:t>We have implemented the LM35 temperature sensor module and successfully interfaced it with the FPGA through the ADC. The sensor output is being read correctly, and our Verilog code accurately converts the ADC values into temperature readings in degrees Celsius. Initially, we faced issues such as noise spikes and timing mismatches, but these were resolved by adding proper synchronization and refining the sampling logic. At present, we are making small improvements to ensure continuous and noise-free real-time temperature readings. With the temperature module completed, we are now moving ahead to interface the remaining vital sensors, including the heart rate sensor and respiratory rate sensor. The heart rate sensor will be connected using our I²C communication module, and we will extract heart rate values using peak detection techniques, while the respiratory rate sensor will be connected through the ADC, allowing us to process the waveform and calculate breaths per minute. Once these modules are developed, all sensor readings will be integrated in the top-level FPGA design and displayed through UART, OLED, or 7-segment output. Overall, our implementation is progressing well, and the successful results of the LM35 module validate the accuracy and reliability of our system.</a:t>
            </a:r>
          </a:p>
          <a:p>
            <a:pPr lvl="0"/>
            <a:endParaRPr lang="en-IN" b="1" dirty="0">
              <a:latin typeface="Verdana" panose="020B0604030504040204" pitchFamily="34" charset="0"/>
              <a:ea typeface="Verdana" panose="020B0604030504040204" pitchFamily="34" charset="0"/>
            </a:endParaRPr>
          </a:p>
        </p:txBody>
      </p:sp>
      <p:pic>
        <p:nvPicPr>
          <p:cNvPr id="1026" name="Picture 2" descr="Buy LM35D Analog Temperature Sensor Module + Cable Online at Robu.in">
            <a:extLst>
              <a:ext uri="{FF2B5EF4-FFF2-40B4-BE49-F238E27FC236}">
                <a16:creationId xmlns:a16="http://schemas.microsoft.com/office/drawing/2014/main" id="{6653986C-42CA-3CC7-0A24-70806D237A41}"/>
              </a:ext>
            </a:extLst>
          </p:cNvPr>
          <p:cNvPicPr>
            <a:picLocks noChangeAspect="1" noChangeArrowheads="1"/>
          </p:cNvPicPr>
          <p:nvPr/>
        </p:nvPicPr>
        <p:blipFill>
          <a:blip r:embed="rId2">
            <a:clrChange>
              <a:clrFrom>
                <a:srgbClr val="FFFFFF"/>
              </a:clrFrom>
              <a:clrTo>
                <a:srgbClr val="FFFFFF">
                  <a:alpha val="0"/>
                </a:srgbClr>
              </a:clrTo>
            </a:clrChange>
            <a:duotone>
              <a:prstClr val="black"/>
              <a:srgbClr val="D9C3A5">
                <a:tint val="50000"/>
                <a:satMod val="180000"/>
              </a:srgbClr>
            </a:duotone>
            <a:extLst>
              <a:ext uri="{28A0092B-C50C-407E-A947-70E740481C1C}">
                <a14:useLocalDpi xmlns:a14="http://schemas.microsoft.com/office/drawing/2010/main" val="0"/>
              </a:ext>
            </a:extLst>
          </a:blip>
          <a:srcRect/>
          <a:stretch>
            <a:fillRect/>
          </a:stretch>
        </p:blipFill>
        <p:spPr bwMode="auto">
          <a:xfrm>
            <a:off x="1521231" y="3801140"/>
            <a:ext cx="2523682" cy="252368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6F88F71-5C78-73BE-16CB-24C6112CE5E5}"/>
              </a:ext>
            </a:extLst>
          </p:cNvPr>
          <p:cNvPicPr>
            <a:picLocks noChangeAspect="1"/>
          </p:cNvPicPr>
          <p:nvPr/>
        </p:nvPicPr>
        <p:blipFill>
          <a:blip r:embed="rId3"/>
          <a:stretch>
            <a:fillRect/>
          </a:stretch>
        </p:blipFill>
        <p:spPr>
          <a:xfrm>
            <a:off x="4443415" y="3733527"/>
            <a:ext cx="5774474" cy="2591295"/>
          </a:xfrm>
          <a:prstGeom prst="rect">
            <a:avLst/>
          </a:prstGeom>
        </p:spPr>
      </p:pic>
    </p:spTree>
    <p:extLst>
      <p:ext uri="{BB962C8B-B14F-4D97-AF65-F5344CB8AC3E}">
        <p14:creationId xmlns:p14="http://schemas.microsoft.com/office/powerpoint/2010/main" val="1611348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35DB1-A974-0AF6-F494-CB52ECB2958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44D8A22-CEB8-592D-966D-93623ADB235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dirty="0"/>
          </a:p>
        </p:txBody>
      </p:sp>
      <p:sp>
        <p:nvSpPr>
          <p:cNvPr id="5" name="TextBox 4">
            <a:extLst>
              <a:ext uri="{FF2B5EF4-FFF2-40B4-BE49-F238E27FC236}">
                <a16:creationId xmlns:a16="http://schemas.microsoft.com/office/drawing/2014/main" id="{AF9C6524-DD07-DB3E-60F5-35DC851F46F3}"/>
              </a:ext>
            </a:extLst>
          </p:cNvPr>
          <p:cNvSpPr txBox="1"/>
          <p:nvPr/>
        </p:nvSpPr>
        <p:spPr>
          <a:xfrm>
            <a:off x="2783072" y="192732"/>
            <a:ext cx="6182832" cy="400110"/>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2400"/>
              <a:buFont typeface="Arial"/>
              <a:buNone/>
            </a:pPr>
            <a:r>
              <a:rPr lang="en-US" sz="2000" b="1" i="0" u="none" strike="noStrike" cap="none" dirty="0">
                <a:solidFill>
                  <a:srgbClr val="000000"/>
                </a:solidFill>
                <a:latin typeface="Montserrat"/>
                <a:ea typeface="Montserrat"/>
                <a:cs typeface="Montserrat"/>
                <a:sym typeface="Montserrat"/>
              </a:rPr>
              <a:t>Simulation Output - </a:t>
            </a:r>
            <a:r>
              <a:rPr lang="en-US" sz="2000" b="1" i="0" u="none" strike="noStrike" cap="none" dirty="0" err="1">
                <a:solidFill>
                  <a:srgbClr val="000000"/>
                </a:solidFill>
                <a:latin typeface="Montserrat"/>
                <a:ea typeface="Montserrat"/>
                <a:cs typeface="Montserrat"/>
                <a:sym typeface="Montserrat"/>
              </a:rPr>
              <a:t>Vivado</a:t>
            </a:r>
            <a:endParaRPr lang="en-US" sz="2000" b="0" i="0" u="none" strike="noStrike" cap="none" dirty="0">
              <a:solidFill>
                <a:srgbClr val="000000"/>
              </a:solidFill>
              <a:latin typeface="Arial"/>
              <a:ea typeface="Arial"/>
              <a:cs typeface="Arial"/>
              <a:sym typeface="Arial"/>
            </a:endParaRPr>
          </a:p>
        </p:txBody>
      </p:sp>
      <p:pic>
        <p:nvPicPr>
          <p:cNvPr id="4" name="Picture 3">
            <a:extLst>
              <a:ext uri="{FF2B5EF4-FFF2-40B4-BE49-F238E27FC236}">
                <a16:creationId xmlns:a16="http://schemas.microsoft.com/office/drawing/2014/main" id="{BCD3C393-BDFB-9B08-32FA-4E555438D07B}"/>
              </a:ext>
            </a:extLst>
          </p:cNvPr>
          <p:cNvPicPr>
            <a:picLocks noChangeAspect="1"/>
          </p:cNvPicPr>
          <p:nvPr/>
        </p:nvPicPr>
        <p:blipFill>
          <a:blip r:embed="rId2"/>
          <a:stretch>
            <a:fillRect/>
          </a:stretch>
        </p:blipFill>
        <p:spPr>
          <a:xfrm>
            <a:off x="-1" y="878877"/>
            <a:ext cx="12192000" cy="4167557"/>
          </a:xfrm>
          <a:prstGeom prst="rect">
            <a:avLst/>
          </a:prstGeom>
        </p:spPr>
      </p:pic>
    </p:spTree>
    <p:extLst>
      <p:ext uri="{BB962C8B-B14F-4D97-AF65-F5344CB8AC3E}">
        <p14:creationId xmlns:p14="http://schemas.microsoft.com/office/powerpoint/2010/main" val="1664008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9120D-51B8-0921-89F6-D463887BF23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AD02C74-C33F-EEF5-BE49-9F8E25B52B0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11</a:t>
            </a:fld>
            <a:endParaRPr lang="en-US" dirty="0"/>
          </a:p>
        </p:txBody>
      </p:sp>
      <p:sp>
        <p:nvSpPr>
          <p:cNvPr id="5" name="TextBox 4">
            <a:extLst>
              <a:ext uri="{FF2B5EF4-FFF2-40B4-BE49-F238E27FC236}">
                <a16:creationId xmlns:a16="http://schemas.microsoft.com/office/drawing/2014/main" id="{AE0B5ABD-44D6-C577-5BAC-3B647604D89D}"/>
              </a:ext>
            </a:extLst>
          </p:cNvPr>
          <p:cNvSpPr txBox="1"/>
          <p:nvPr/>
        </p:nvSpPr>
        <p:spPr>
          <a:xfrm>
            <a:off x="2783072" y="128724"/>
            <a:ext cx="6182832" cy="400110"/>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2400"/>
              <a:buFont typeface="Arial"/>
              <a:buNone/>
            </a:pPr>
            <a:r>
              <a:rPr lang="en-US" sz="2000" b="1" i="0" u="none" strike="noStrike" cap="none" dirty="0">
                <a:solidFill>
                  <a:srgbClr val="000000"/>
                </a:solidFill>
                <a:latin typeface="Montserrat"/>
                <a:ea typeface="Montserrat"/>
                <a:cs typeface="Montserrat"/>
                <a:sym typeface="Montserrat"/>
              </a:rPr>
              <a:t>Simulation Output - </a:t>
            </a:r>
            <a:r>
              <a:rPr lang="en-US" sz="2000" b="1" i="0" u="none" strike="noStrike" cap="none" dirty="0" err="1">
                <a:solidFill>
                  <a:srgbClr val="000000"/>
                </a:solidFill>
                <a:latin typeface="Montserrat"/>
                <a:ea typeface="Montserrat"/>
                <a:cs typeface="Montserrat"/>
                <a:sym typeface="Montserrat"/>
              </a:rPr>
              <a:t>Vivado</a:t>
            </a:r>
            <a:endParaRPr lang="en-US" sz="2000" b="0" i="0" u="none" strike="noStrike" cap="none" dirty="0">
              <a:solidFill>
                <a:srgbClr val="000000"/>
              </a:solidFill>
              <a:latin typeface="Arial"/>
              <a:ea typeface="Arial"/>
              <a:cs typeface="Arial"/>
              <a:sym typeface="Arial"/>
            </a:endParaRPr>
          </a:p>
        </p:txBody>
      </p:sp>
      <p:sp>
        <p:nvSpPr>
          <p:cNvPr id="2" name="TextBox 1">
            <a:extLst>
              <a:ext uri="{FF2B5EF4-FFF2-40B4-BE49-F238E27FC236}">
                <a16:creationId xmlns:a16="http://schemas.microsoft.com/office/drawing/2014/main" id="{5F77D097-7040-3B8D-D922-B55EE41636C2}"/>
              </a:ext>
            </a:extLst>
          </p:cNvPr>
          <p:cNvSpPr txBox="1"/>
          <p:nvPr/>
        </p:nvSpPr>
        <p:spPr>
          <a:xfrm>
            <a:off x="0" y="667512"/>
            <a:ext cx="4709160" cy="3323987"/>
          </a:xfrm>
          <a:prstGeom prst="rect">
            <a:avLst/>
          </a:prstGeom>
          <a:noFill/>
        </p:spPr>
        <p:txBody>
          <a:bodyPr wrap="square" rtlCol="0">
            <a:spAutoFit/>
          </a:bodyPr>
          <a:lstStyle/>
          <a:p>
            <a:r>
              <a:rPr lang="en-US" b="1" dirty="0"/>
              <a:t>Normal Condition (First Stage)</a:t>
            </a:r>
          </a:p>
          <a:p>
            <a:r>
              <a:rPr lang="en-US" dirty="0"/>
              <a:t>At the beginning:</a:t>
            </a:r>
          </a:p>
          <a:p>
            <a:pPr marL="285750" indent="-285750">
              <a:buFont typeface="Arial" panose="020B0604020202020204" pitchFamily="34" charset="0"/>
              <a:buChar char="•"/>
            </a:pPr>
            <a:r>
              <a:rPr lang="en-US" dirty="0"/>
              <a:t>bpm = 50 (hex 32)</a:t>
            </a:r>
          </a:p>
          <a:p>
            <a:pPr marL="285750" indent="-285750">
              <a:buFont typeface="Arial" panose="020B0604020202020204" pitchFamily="34" charset="0"/>
              <a:buChar char="•"/>
            </a:pPr>
            <a:r>
              <a:rPr lang="en-US" dirty="0"/>
              <a:t>resp = 16</a:t>
            </a:r>
          </a:p>
          <a:p>
            <a:pPr marL="285750" indent="-285750">
              <a:buFont typeface="Arial" panose="020B0604020202020204" pitchFamily="34" charset="0"/>
              <a:buChar char="•"/>
            </a:pPr>
            <a:r>
              <a:rPr lang="en-US" dirty="0" err="1"/>
              <a:t>temp_c</a:t>
            </a:r>
            <a:r>
              <a:rPr lang="en-US" dirty="0"/>
              <a:t> = 37</a:t>
            </a:r>
          </a:p>
          <a:p>
            <a:pPr marL="285750" indent="-285750">
              <a:buFont typeface="Arial" panose="020B0604020202020204" pitchFamily="34" charset="0"/>
              <a:buChar char="•"/>
            </a:pPr>
            <a:r>
              <a:rPr lang="en-US" dirty="0"/>
              <a:t>sys = 110</a:t>
            </a:r>
          </a:p>
          <a:p>
            <a:pPr marL="285750" indent="-285750">
              <a:buFont typeface="Arial" panose="020B0604020202020204" pitchFamily="34" charset="0"/>
              <a:buChar char="•"/>
            </a:pPr>
            <a:r>
              <a:rPr lang="en-US" dirty="0" err="1"/>
              <a:t>dia</a:t>
            </a:r>
            <a:r>
              <a:rPr lang="en-US" dirty="0"/>
              <a:t> = 70</a:t>
            </a:r>
          </a:p>
          <a:p>
            <a:r>
              <a:rPr lang="en-US" dirty="0"/>
              <a:t>All values are </a:t>
            </a:r>
            <a:r>
              <a:rPr lang="en-US" b="1" dirty="0"/>
              <a:t>inside normal medical ranges</a:t>
            </a:r>
            <a:r>
              <a:rPr lang="en-US" dirty="0"/>
              <a:t>, therefore:</a:t>
            </a:r>
          </a:p>
          <a:p>
            <a:pPr marL="285750" indent="-285750">
              <a:buFont typeface="Arial" panose="020B0604020202020204" pitchFamily="34" charset="0"/>
              <a:buChar char="•"/>
            </a:pPr>
            <a:r>
              <a:rPr lang="en-US" dirty="0" err="1"/>
              <a:t>p_ab</a:t>
            </a:r>
            <a:r>
              <a:rPr lang="en-US" dirty="0"/>
              <a:t> = </a:t>
            </a:r>
          </a:p>
          <a:p>
            <a:pPr marL="285750" indent="-285750">
              <a:buFont typeface="Arial" panose="020B0604020202020204" pitchFamily="34" charset="0"/>
              <a:buChar char="•"/>
            </a:pPr>
            <a:r>
              <a:rPr lang="en-US" dirty="0" err="1"/>
              <a:t>r_ab</a:t>
            </a:r>
            <a:r>
              <a:rPr lang="en-US" dirty="0"/>
              <a:t> = 0</a:t>
            </a:r>
          </a:p>
          <a:p>
            <a:pPr marL="285750" indent="-285750">
              <a:buFont typeface="Arial" panose="020B0604020202020204" pitchFamily="34" charset="0"/>
              <a:buChar char="•"/>
            </a:pPr>
            <a:r>
              <a:rPr lang="en-US" dirty="0" err="1"/>
              <a:t>t_ab</a:t>
            </a:r>
            <a:r>
              <a:rPr lang="en-US" dirty="0"/>
              <a:t> = 0</a:t>
            </a:r>
          </a:p>
          <a:p>
            <a:pPr marL="285750" indent="-285750">
              <a:buFont typeface="Arial" panose="020B0604020202020204" pitchFamily="34" charset="0"/>
              <a:buChar char="•"/>
            </a:pPr>
            <a:r>
              <a:rPr lang="en-US" dirty="0" err="1"/>
              <a:t>bp_ab</a:t>
            </a:r>
            <a:r>
              <a:rPr lang="en-US" dirty="0"/>
              <a:t> = 0</a:t>
            </a:r>
          </a:p>
          <a:p>
            <a:pPr marL="285750" indent="-285750">
              <a:buFont typeface="Arial" panose="020B0604020202020204" pitchFamily="34" charset="0"/>
              <a:buChar char="•"/>
            </a:pPr>
            <a:r>
              <a:rPr lang="en-US" dirty="0" err="1"/>
              <a:t>abnormal_final</a:t>
            </a:r>
            <a:r>
              <a:rPr lang="en-US" dirty="0"/>
              <a:t> = 0</a:t>
            </a:r>
          </a:p>
          <a:p>
            <a:r>
              <a:rPr lang="en-US" dirty="0"/>
              <a:t>➡️ </a:t>
            </a:r>
            <a:r>
              <a:rPr lang="en-US" b="1" dirty="0"/>
              <a:t>Patient is Normal</a:t>
            </a:r>
            <a:endParaRPr lang="en-US" dirty="0"/>
          </a:p>
          <a:p>
            <a:endParaRPr lang="en-US" dirty="0"/>
          </a:p>
        </p:txBody>
      </p:sp>
      <p:sp>
        <p:nvSpPr>
          <p:cNvPr id="6" name="TextBox 5">
            <a:extLst>
              <a:ext uri="{FF2B5EF4-FFF2-40B4-BE49-F238E27FC236}">
                <a16:creationId xmlns:a16="http://schemas.microsoft.com/office/drawing/2014/main" id="{914C580A-D039-8363-6657-D36AC5D9EE62}"/>
              </a:ext>
            </a:extLst>
          </p:cNvPr>
          <p:cNvSpPr txBox="1"/>
          <p:nvPr/>
        </p:nvSpPr>
        <p:spPr>
          <a:xfrm>
            <a:off x="4645152" y="667512"/>
            <a:ext cx="4262840" cy="3539430"/>
          </a:xfrm>
          <a:prstGeom prst="rect">
            <a:avLst/>
          </a:prstGeom>
          <a:noFill/>
        </p:spPr>
        <p:txBody>
          <a:bodyPr wrap="square" rtlCol="0">
            <a:spAutoFit/>
          </a:bodyPr>
          <a:lstStyle/>
          <a:p>
            <a:r>
              <a:rPr lang="en-US" b="1" dirty="0"/>
              <a:t>When BPM becomes abnormal</a:t>
            </a:r>
          </a:p>
          <a:p>
            <a:r>
              <a:rPr lang="en-US" dirty="0"/>
              <a:t>Later, BPM transitions from 0x32 (50) to 0x64 (100), then above the upper limit.</a:t>
            </a:r>
          </a:p>
          <a:p>
            <a:r>
              <a:rPr lang="en-US" dirty="0"/>
              <a:t>When BPM &gt; 100:</a:t>
            </a:r>
          </a:p>
          <a:p>
            <a:pPr marL="285750" indent="-285750">
              <a:buFont typeface="Arial" panose="020B0604020202020204" pitchFamily="34" charset="0"/>
              <a:buChar char="•"/>
            </a:pPr>
            <a:r>
              <a:rPr lang="en-US" dirty="0" err="1"/>
              <a:t>p_ab</a:t>
            </a:r>
            <a:r>
              <a:rPr lang="en-US" dirty="0"/>
              <a:t> becomes </a:t>
            </a:r>
            <a:r>
              <a:rPr lang="en-US" b="1" dirty="0"/>
              <a:t>1</a:t>
            </a:r>
            <a:endParaRPr lang="en-US" dirty="0"/>
          </a:p>
          <a:p>
            <a:pPr marL="285750" indent="-285750">
              <a:buFont typeface="Arial" panose="020B0604020202020204" pitchFamily="34" charset="0"/>
              <a:buChar char="•"/>
            </a:pPr>
            <a:r>
              <a:rPr lang="en-US" dirty="0" err="1"/>
              <a:t>abnormal_final</a:t>
            </a:r>
            <a:r>
              <a:rPr lang="en-US" dirty="0"/>
              <a:t> also becomes </a:t>
            </a:r>
            <a:r>
              <a:rPr lang="en-US" b="1" dirty="0"/>
              <a:t>1</a:t>
            </a:r>
            <a:endParaRPr lang="en-US" dirty="0"/>
          </a:p>
          <a:p>
            <a:r>
              <a:rPr lang="en-US" dirty="0"/>
              <a:t>This appears in your waveform exactly at the moment BPM reaches the abnormal range.</a:t>
            </a:r>
          </a:p>
          <a:p>
            <a:r>
              <a:rPr lang="en-US" dirty="0"/>
              <a:t>➡️ </a:t>
            </a:r>
            <a:r>
              <a:rPr lang="en-US" b="1" dirty="0"/>
              <a:t>High Heart Rate Alert Activated</a:t>
            </a:r>
          </a:p>
          <a:p>
            <a:endParaRPr lang="en-US" b="1" dirty="0"/>
          </a:p>
          <a:p>
            <a:r>
              <a:rPr lang="en-US" b="1" dirty="0"/>
              <a:t>When Respiration Rate becomes abnormal</a:t>
            </a:r>
          </a:p>
          <a:p>
            <a:r>
              <a:rPr lang="en-US" dirty="0"/>
              <a:t>Respiratory rate changes to 10 (below the normal threshold 12).</a:t>
            </a:r>
          </a:p>
          <a:p>
            <a:pPr marL="285750" indent="-285750">
              <a:buFont typeface="Arial" panose="020B0604020202020204" pitchFamily="34" charset="0"/>
              <a:buChar char="•"/>
            </a:pPr>
            <a:r>
              <a:rPr lang="en-US" dirty="0" err="1"/>
              <a:t>r_ab</a:t>
            </a:r>
            <a:r>
              <a:rPr lang="en-US" dirty="0"/>
              <a:t> = 1</a:t>
            </a:r>
          </a:p>
          <a:p>
            <a:pPr marL="285750" indent="-285750">
              <a:buFont typeface="Arial" panose="020B0604020202020204" pitchFamily="34" charset="0"/>
              <a:buChar char="•"/>
            </a:pPr>
            <a:r>
              <a:rPr lang="en-US" dirty="0" err="1"/>
              <a:t>abnormal_final</a:t>
            </a:r>
            <a:r>
              <a:rPr lang="en-US" dirty="0"/>
              <a:t> remains </a:t>
            </a:r>
            <a:r>
              <a:rPr lang="en-US" b="1" dirty="0"/>
              <a:t>1</a:t>
            </a:r>
            <a:endParaRPr lang="en-US" dirty="0"/>
          </a:p>
          <a:p>
            <a:r>
              <a:rPr lang="en-US" dirty="0"/>
              <a:t>➡️ </a:t>
            </a:r>
            <a:r>
              <a:rPr lang="en-US" b="1" dirty="0"/>
              <a:t>Low Respiration Alert Activated</a:t>
            </a:r>
            <a:endParaRPr lang="en-US" dirty="0"/>
          </a:p>
        </p:txBody>
      </p:sp>
      <p:sp>
        <p:nvSpPr>
          <p:cNvPr id="7" name="TextBox 6">
            <a:extLst>
              <a:ext uri="{FF2B5EF4-FFF2-40B4-BE49-F238E27FC236}">
                <a16:creationId xmlns:a16="http://schemas.microsoft.com/office/drawing/2014/main" id="{48F6D707-7584-CC29-AB21-1D7A5CF6164B}"/>
              </a:ext>
            </a:extLst>
          </p:cNvPr>
          <p:cNvSpPr txBox="1"/>
          <p:nvPr/>
        </p:nvSpPr>
        <p:spPr>
          <a:xfrm>
            <a:off x="8750808" y="667512"/>
            <a:ext cx="3441192" cy="3754874"/>
          </a:xfrm>
          <a:prstGeom prst="rect">
            <a:avLst/>
          </a:prstGeom>
          <a:noFill/>
        </p:spPr>
        <p:txBody>
          <a:bodyPr wrap="square" rtlCol="0">
            <a:spAutoFit/>
          </a:bodyPr>
          <a:lstStyle/>
          <a:p>
            <a:r>
              <a:rPr lang="en-US" b="1" dirty="0"/>
              <a:t>When Temperature becomes abnormal</a:t>
            </a:r>
          </a:p>
          <a:p>
            <a:r>
              <a:rPr lang="en-US" dirty="0"/>
              <a:t>Temperature drops to 23°C:</a:t>
            </a:r>
          </a:p>
          <a:p>
            <a:pPr marL="285750" indent="-285750">
              <a:buFont typeface="Arial" panose="020B0604020202020204" pitchFamily="34" charset="0"/>
              <a:buChar char="•"/>
            </a:pPr>
            <a:r>
              <a:rPr lang="en-US" dirty="0" err="1"/>
              <a:t>t_ab</a:t>
            </a:r>
            <a:r>
              <a:rPr lang="en-US" dirty="0"/>
              <a:t> = 1</a:t>
            </a:r>
          </a:p>
          <a:p>
            <a:pPr marL="285750" indent="-285750">
              <a:buFont typeface="Arial" panose="020B0604020202020204" pitchFamily="34" charset="0"/>
              <a:buChar char="•"/>
            </a:pPr>
            <a:r>
              <a:rPr lang="en-US" dirty="0" err="1"/>
              <a:t>abnormal_final</a:t>
            </a:r>
            <a:r>
              <a:rPr lang="en-US" dirty="0"/>
              <a:t> = 1</a:t>
            </a:r>
          </a:p>
          <a:p>
            <a:r>
              <a:rPr lang="en-US" dirty="0"/>
              <a:t>➡️ </a:t>
            </a:r>
            <a:r>
              <a:rPr lang="en-US" b="1" dirty="0"/>
              <a:t>Low Body Temperature Alert Activated</a:t>
            </a:r>
            <a:endParaRPr lang="en-US" dirty="0"/>
          </a:p>
          <a:p>
            <a:endParaRPr lang="en-US" dirty="0"/>
          </a:p>
          <a:p>
            <a:r>
              <a:rPr lang="en-US" b="1" dirty="0"/>
              <a:t>When Blood Pressure becomes abnormal</a:t>
            </a:r>
          </a:p>
          <a:p>
            <a:r>
              <a:rPr lang="en-US" dirty="0"/>
              <a:t>Sys = 0x6E (110) is normal</a:t>
            </a:r>
            <a:br>
              <a:rPr lang="en-US" dirty="0"/>
            </a:br>
            <a:r>
              <a:rPr lang="en-US" dirty="0"/>
              <a:t>Dia = 0x46 (70) is normal</a:t>
            </a:r>
          </a:p>
          <a:p>
            <a:r>
              <a:rPr lang="en-US" dirty="0"/>
              <a:t>But when BP values change to abnormal thresholds in next cycles:</a:t>
            </a:r>
          </a:p>
          <a:p>
            <a:pPr marL="285750" indent="-285750">
              <a:buFont typeface="Arial" panose="020B0604020202020204" pitchFamily="34" charset="0"/>
              <a:buChar char="•"/>
            </a:pPr>
            <a:r>
              <a:rPr lang="en-US" dirty="0" err="1"/>
              <a:t>bp_ab</a:t>
            </a:r>
            <a:r>
              <a:rPr lang="en-US" dirty="0"/>
              <a:t> = 1</a:t>
            </a:r>
          </a:p>
          <a:p>
            <a:pPr marL="285750" indent="-285750">
              <a:buFont typeface="Arial" panose="020B0604020202020204" pitchFamily="34" charset="0"/>
              <a:buChar char="•"/>
            </a:pPr>
            <a:r>
              <a:rPr lang="en-US" dirty="0" err="1"/>
              <a:t>abnormal_final</a:t>
            </a:r>
            <a:r>
              <a:rPr lang="en-US" dirty="0"/>
              <a:t> = 1</a:t>
            </a:r>
          </a:p>
          <a:p>
            <a:r>
              <a:rPr lang="en-US" dirty="0"/>
              <a:t>➡️ </a:t>
            </a:r>
            <a:r>
              <a:rPr lang="en-US" b="1" dirty="0"/>
              <a:t>BP Alert Activated</a:t>
            </a:r>
            <a:endParaRPr lang="en-US" dirty="0"/>
          </a:p>
        </p:txBody>
      </p:sp>
      <p:sp>
        <p:nvSpPr>
          <p:cNvPr id="8" name="TextBox 7">
            <a:extLst>
              <a:ext uri="{FF2B5EF4-FFF2-40B4-BE49-F238E27FC236}">
                <a16:creationId xmlns:a16="http://schemas.microsoft.com/office/drawing/2014/main" id="{DDCE3D19-9BA5-10A2-C9FC-64B3D726D674}"/>
              </a:ext>
            </a:extLst>
          </p:cNvPr>
          <p:cNvSpPr txBox="1"/>
          <p:nvPr/>
        </p:nvSpPr>
        <p:spPr>
          <a:xfrm>
            <a:off x="0" y="4246106"/>
            <a:ext cx="12191999" cy="2246769"/>
          </a:xfrm>
          <a:prstGeom prst="rect">
            <a:avLst/>
          </a:prstGeom>
          <a:noFill/>
        </p:spPr>
        <p:txBody>
          <a:bodyPr wrap="square" rtlCol="0">
            <a:spAutoFit/>
          </a:bodyPr>
          <a:lstStyle/>
          <a:p>
            <a:r>
              <a:rPr lang="en-US" dirty="0"/>
              <a:t>“In this simulation, we tested the four major vital sign monitors.</a:t>
            </a:r>
            <a:br>
              <a:rPr lang="en-US" dirty="0"/>
            </a:br>
            <a:r>
              <a:rPr lang="en-US" dirty="0"/>
              <a:t>Each parameter has predefined medical normal ranges.</a:t>
            </a:r>
          </a:p>
          <a:p>
            <a:r>
              <a:rPr lang="en-US" dirty="0"/>
              <a:t>During the simulation:</a:t>
            </a:r>
          </a:p>
          <a:p>
            <a:pPr marL="285750" indent="-285750">
              <a:buFont typeface="Arial" panose="020B0604020202020204" pitchFamily="34" charset="0"/>
              <a:buChar char="•"/>
            </a:pPr>
            <a:r>
              <a:rPr lang="en-US" dirty="0"/>
              <a:t>When parameters were within range, all abnormal flags remained </a:t>
            </a:r>
            <a:r>
              <a:rPr lang="en-US" b="1" dirty="0"/>
              <a:t>0</a:t>
            </a:r>
            <a:endParaRPr lang="en-US" dirty="0"/>
          </a:p>
          <a:p>
            <a:pPr marL="285750" indent="-285750">
              <a:buFont typeface="Arial" panose="020B0604020202020204" pitchFamily="34" charset="0"/>
              <a:buChar char="•"/>
            </a:pPr>
            <a:r>
              <a:rPr lang="en-US" dirty="0"/>
              <a:t>When any parameter exceeded the threshold, its corresponding abnormal flag became </a:t>
            </a:r>
            <a:r>
              <a:rPr lang="en-US" b="1" dirty="0"/>
              <a:t>1</a:t>
            </a:r>
            <a:endParaRPr lang="en-US" dirty="0"/>
          </a:p>
          <a:p>
            <a:pPr marL="285750" indent="-285750">
              <a:buFont typeface="Arial" panose="020B0604020202020204" pitchFamily="34" charset="0"/>
              <a:buChar char="•"/>
            </a:pPr>
            <a:r>
              <a:rPr lang="en-US" dirty="0"/>
              <a:t>The final signal </a:t>
            </a:r>
            <a:r>
              <a:rPr lang="en-US" dirty="0" err="1"/>
              <a:t>abnormal_final</a:t>
            </a:r>
            <a:r>
              <a:rPr lang="en-US" dirty="0"/>
              <a:t> is an OR combination of all individual abnormal flags</a:t>
            </a:r>
          </a:p>
          <a:p>
            <a:pPr marL="285750" indent="-285750">
              <a:buFont typeface="Arial" panose="020B0604020202020204" pitchFamily="34" charset="0"/>
              <a:buChar char="•"/>
            </a:pPr>
            <a:r>
              <a:rPr lang="en-US" dirty="0"/>
              <a:t>So, if ANY vital sign becomes abnormal, the system immediately detects and reports it</a:t>
            </a:r>
          </a:p>
          <a:p>
            <a:r>
              <a:rPr lang="en-US" dirty="0"/>
              <a:t>This simulates the behavior of our FPGA-based patient monitoring system in the health tracking project. The waveforms confirm that the logic works correctly.”</a:t>
            </a:r>
          </a:p>
          <a:p>
            <a:endParaRPr lang="en-US" dirty="0"/>
          </a:p>
        </p:txBody>
      </p:sp>
    </p:spTree>
    <p:extLst>
      <p:ext uri="{BB962C8B-B14F-4D97-AF65-F5344CB8AC3E}">
        <p14:creationId xmlns:p14="http://schemas.microsoft.com/office/powerpoint/2010/main" val="32546853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A98FA-4F35-C93F-73A2-485950D05BB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4132046-4ACE-A1E3-4010-52881C9836A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12</a:t>
            </a:fld>
            <a:endParaRPr lang="en-US" dirty="0"/>
          </a:p>
        </p:txBody>
      </p:sp>
      <p:sp>
        <p:nvSpPr>
          <p:cNvPr id="4" name="Google Shape;125;p3">
            <a:extLst>
              <a:ext uri="{FF2B5EF4-FFF2-40B4-BE49-F238E27FC236}">
                <a16:creationId xmlns:a16="http://schemas.microsoft.com/office/drawing/2014/main" id="{9BB43107-1A1B-029D-C73C-2126600571B2}"/>
              </a:ext>
            </a:extLst>
          </p:cNvPr>
          <p:cNvSpPr txBox="1"/>
          <p:nvPr/>
        </p:nvSpPr>
        <p:spPr>
          <a:xfrm>
            <a:off x="1000124" y="232275"/>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US" sz="2400" b="1" i="0" u="none" strike="noStrike" cap="none" dirty="0">
                <a:solidFill>
                  <a:srgbClr val="000000"/>
                </a:solidFill>
                <a:latin typeface="Montserrat"/>
                <a:ea typeface="Montserrat"/>
                <a:cs typeface="Montserrat"/>
                <a:sym typeface="Montserrat"/>
              </a:rPr>
              <a:t>Conclusion &amp; Future Work</a:t>
            </a:r>
            <a:endParaRPr lang="en-US" sz="1400" b="0" i="0" u="none" strike="noStrike" cap="none" dirty="0">
              <a:solidFill>
                <a:srgbClr val="000000"/>
              </a:solidFill>
              <a:latin typeface="Arial"/>
              <a:ea typeface="Arial"/>
              <a:cs typeface="Arial"/>
              <a:sym typeface="Arial"/>
            </a:endParaRPr>
          </a:p>
        </p:txBody>
      </p:sp>
      <p:sp>
        <p:nvSpPr>
          <p:cNvPr id="5" name="Google Shape;125;p3">
            <a:extLst>
              <a:ext uri="{FF2B5EF4-FFF2-40B4-BE49-F238E27FC236}">
                <a16:creationId xmlns:a16="http://schemas.microsoft.com/office/drawing/2014/main" id="{8EB3901A-2C1A-A66B-C9AE-81E8FAFAB4FF}"/>
              </a:ext>
            </a:extLst>
          </p:cNvPr>
          <p:cNvSpPr txBox="1"/>
          <p:nvPr/>
        </p:nvSpPr>
        <p:spPr>
          <a:xfrm>
            <a:off x="452283" y="871532"/>
            <a:ext cx="11326761"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dirty="0">
                <a:latin typeface="Verdana" panose="020B0604030504040204" pitchFamily="34" charset="0"/>
                <a:ea typeface="Verdana" panose="020B0604030504040204" pitchFamily="34" charset="0"/>
              </a:rPr>
              <a:t>Summary and Conclusion </a:t>
            </a:r>
          </a:p>
          <a:p>
            <a:pPr marL="0" marR="0" lvl="0" indent="0" rtl="0">
              <a:lnSpc>
                <a:spcPct val="100000"/>
              </a:lnSpc>
              <a:spcBef>
                <a:spcPts val="0"/>
              </a:spcBef>
              <a:spcAft>
                <a:spcPts val="0"/>
              </a:spcAft>
              <a:buNone/>
            </a:pPr>
            <a:endParaRPr lang="en-IN" b="1"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The FPGA-based patient history tracking and monitoring system provides continuous real-time monitoring of vital parameters such as heart rate, blood pressure, and temperature.</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The system facilitates efficient storage and retrieval of patient history, including treatment details and health reports, enabling better diagnosis and care.</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Alerts are generated promptly when abnormal vital signs are detected, ensuring timely intervention.</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Implementation on FPGA allows for fast processing, low latency, and reliable performance compared to microcontroller-based systems.</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The design was tested for different abnormal conditions and successfully generates accurate health status reports for patients.</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This system reduces the need for constant manual monitoring and supports remote healthcare.</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r>
              <a:rPr lang="en-IN" b="1" dirty="0">
                <a:latin typeface="Verdana" panose="020B0604030504040204" pitchFamily="34" charset="0"/>
                <a:ea typeface="Verdana" panose="020B0604030504040204" pitchFamily="34" charset="0"/>
              </a:rPr>
              <a:t>Future Work</a:t>
            </a:r>
          </a:p>
          <a:p>
            <a:endParaRPr lang="en-IN" b="1"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Integration of additional sensors for monitoring more health parameters like oxygen saturation (SpO2), respiratory rate, and ECG signals.</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Incorporation of machine learning algorithms on FPGA for predictive health analysis and early disease detection.</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Enhancing the system with wireless IoT connectivity for remote access and real-time cloud data synchronization.</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Development of a mobile or web app interface for doctors and caregivers to monitor multiple patients simultaneously.</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Extension of patient history management with comprehensive electronic health records (EHR) and support for multi-user access.</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Implementation of advanced alert systems with automated emergency response notifications.</a:t>
            </a:r>
          </a:p>
          <a:p>
            <a:endParaRPr lang="en-IN" b="1"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567826158"/>
      </p:ext>
    </p:extLst>
  </p:cSld>
  <p:clrMapOvr>
    <a:masterClrMapping/>
  </p:clrMapOvr>
  <mc:AlternateContent xmlns:mc="http://schemas.openxmlformats.org/markup-compatibility/2006" xmlns:p14="http://schemas.microsoft.com/office/powerpoint/2010/main">
    <mc:Choice Requires="p14">
      <p:transition spd="slow" p14:dur="2000" advTm="581"/>
    </mc:Choice>
    <mc:Fallback xmlns="">
      <p:transition spd="slow" advTm="581"/>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42"/>
        <p:cNvGrpSpPr/>
        <p:nvPr/>
      </p:nvGrpSpPr>
      <p:grpSpPr>
        <a:xfrm>
          <a:off x="0" y="0"/>
          <a:ext cx="0" cy="0"/>
          <a:chOff x="0" y="0"/>
          <a:chExt cx="0" cy="0"/>
        </a:xfrm>
      </p:grpSpPr>
      <p:sp>
        <p:nvSpPr>
          <p:cNvPr id="743" name="Google Shape;743;g2fee63df26b_0_0"/>
          <p:cNvSpPr txBox="1"/>
          <p:nvPr/>
        </p:nvSpPr>
        <p:spPr>
          <a:xfrm>
            <a:off x="1233714" y="2607717"/>
            <a:ext cx="9724500" cy="1862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500"/>
              <a:buFont typeface="Arial"/>
              <a:buNone/>
            </a:pPr>
            <a:r>
              <a:rPr lang="en-US" sz="11500" b="1" i="0" u="none" strike="noStrike" cap="none">
                <a:solidFill>
                  <a:srgbClr val="007069"/>
                </a:solidFill>
                <a:latin typeface="Open Sans"/>
                <a:ea typeface="Open Sans"/>
                <a:cs typeface="Open Sans"/>
                <a:sym typeface="Open Sans"/>
              </a:rPr>
              <a:t>THANK </a:t>
            </a:r>
            <a:r>
              <a:rPr lang="en-US" sz="11500" b="1" i="0" u="none" strike="noStrike" cap="none">
                <a:solidFill>
                  <a:srgbClr val="A5A5A5"/>
                </a:solidFill>
                <a:latin typeface="Open Sans"/>
                <a:ea typeface="Open Sans"/>
                <a:cs typeface="Open Sans"/>
                <a:sym typeface="Open Sans"/>
              </a:rPr>
              <a:t>YOU</a:t>
            </a:r>
            <a:endParaRPr sz="1400" b="0" i="0" u="none" strike="noStrike" cap="none">
              <a:solidFill>
                <a:srgbClr val="000000"/>
              </a:solidFill>
              <a:latin typeface="Aharoni"/>
              <a:ea typeface="Aharoni"/>
              <a:cs typeface="Aharoni"/>
              <a:sym typeface="Aharoni"/>
            </a:endParaRPr>
          </a:p>
        </p:txBody>
      </p:sp>
      <p:sp>
        <p:nvSpPr>
          <p:cNvPr id="744" name="Google Shape;744;g2fee63df26b_0_0"/>
          <p:cNvSpPr txBox="1"/>
          <p:nvPr/>
        </p:nvSpPr>
        <p:spPr>
          <a:xfrm>
            <a:off x="1596571" y="4466045"/>
            <a:ext cx="8998800" cy="40006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dirty="0">
                <a:solidFill>
                  <a:srgbClr val="7F7F7F"/>
                </a:solidFill>
                <a:latin typeface="Open Sans"/>
                <a:ea typeface="Open Sans"/>
                <a:cs typeface="Open Sans"/>
                <a:sym typeface="Open Sans"/>
              </a:rPr>
              <a:t>Have a Great Day ! </a:t>
            </a:r>
            <a:endParaRPr sz="1400" b="0" i="0" u="none" strike="noStrike" cap="none" dirty="0">
              <a:solidFill>
                <a:srgbClr val="000000"/>
              </a:solidFill>
              <a:latin typeface="Aharoni"/>
              <a:ea typeface="Aharoni"/>
              <a:cs typeface="Aharoni"/>
              <a:sym typeface="Aharoni"/>
            </a:endParaRPr>
          </a:p>
        </p:txBody>
      </p:sp>
    </p:spTree>
  </p:cSld>
  <p:clrMapOvr>
    <a:masterClrMapping/>
  </p:clrMapOvr>
  <mc:AlternateContent xmlns:mc="http://schemas.openxmlformats.org/markup-compatibility/2006" xmlns:p14="http://schemas.microsoft.com/office/powerpoint/2010/main">
    <mc:Choice Requires="p14">
      <p:transition spd="slow" p14:dur="2000" advTm="569"/>
    </mc:Choice>
    <mc:Fallback xmlns="">
      <p:transition spd="slow" advTm="569"/>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PRESGUID" val="2b12e713-2dca-40f0-9e5e-b71e83d0a0b8"/>
</p:tagLst>
</file>

<file path=ppt/theme/theme1.xml><?xml version="1.0" encoding="utf-8"?>
<a:theme xmlns:a="http://schemas.openxmlformats.org/drawingml/2006/main" name="Office Theme">
  <a:themeElements>
    <a:clrScheme name="Custom 77">
      <a:dk1>
        <a:srgbClr val="282828"/>
      </a:dk1>
      <a:lt1>
        <a:srgbClr val="FFFFFF"/>
      </a:lt1>
      <a:dk2>
        <a:srgbClr val="282828"/>
      </a:dk2>
      <a:lt2>
        <a:srgbClr val="FAFAFA"/>
      </a:lt2>
      <a:accent1>
        <a:srgbClr val="FFC639"/>
      </a:accent1>
      <a:accent2>
        <a:srgbClr val="F29B6B"/>
      </a:accent2>
      <a:accent3>
        <a:srgbClr val="CCD4FB"/>
      </a:accent3>
      <a:accent4>
        <a:srgbClr val="2B7158"/>
      </a:accent4>
      <a:accent5>
        <a:srgbClr val="456AB8"/>
      </a:accent5>
      <a:accent6>
        <a:srgbClr val="363836"/>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3334</TotalTime>
  <Words>1935</Words>
  <Application>Microsoft Office PowerPoint</Application>
  <PresentationFormat>Widescreen</PresentationFormat>
  <Paragraphs>193</Paragraphs>
  <Slides>13</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13</vt:i4>
      </vt:variant>
    </vt:vector>
  </HeadingPairs>
  <TitlesOfParts>
    <vt:vector size="23" baseType="lpstr">
      <vt:lpstr>Calibri</vt:lpstr>
      <vt:lpstr>Open Sans</vt:lpstr>
      <vt:lpstr>Aharoni</vt:lpstr>
      <vt:lpstr>Verdana</vt:lpstr>
      <vt:lpstr>Arial</vt:lpstr>
      <vt:lpstr>Poppins SemiBold</vt:lpstr>
      <vt:lpstr>Montserrat Medium</vt:lpstr>
      <vt:lpstr>Montserrat</vt:lpstr>
      <vt:lpstr>Plus Jakarta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GITAM</dc:creator>
  <cp:lastModifiedBy>Harshit Hundia</cp:lastModifiedBy>
  <cp:revision>42</cp:revision>
  <dcterms:created xsi:type="dcterms:W3CDTF">2022-05-23T07:15:42Z</dcterms:created>
  <dcterms:modified xsi:type="dcterms:W3CDTF">2025-11-20T19:51:09Z</dcterms:modified>
</cp:coreProperties>
</file>